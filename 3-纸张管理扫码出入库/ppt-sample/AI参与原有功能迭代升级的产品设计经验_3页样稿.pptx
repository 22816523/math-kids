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6720840" cy="5440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475488"/>
            <a:ext cx="4279392" cy="3456432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4096512"/>
            <a:ext cx="4279392" cy="18288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822960"/>
            <a:ext cx="1325880" cy="3291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AI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5852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3294F"/>
                </a:solidFill>
                <a:latin typeface="Microsoft YaHei"/>
              </a:rPr>
              <a:t>AI参与原有功能迭代升级的
产品设计经验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16F89"/>
                </a:solidFill>
                <a:latin typeface="Microsoft YaHei"/>
              </a:rPr>
              <a:t>以纸张管理扫码出入库项目为例，讲清楚 AI 在存量 ERP 功能迭代里如何给产品经理提效，以及如何避免失控。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069080"/>
            <a:ext cx="109728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原有ERP迭代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4831" y="4069080"/>
            <a:ext cx="1143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产品方法复盘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4069080"/>
            <a:ext cx="1051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AI协作提效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96012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FCDEC"/>
                </a:solidFill>
                <a:latin typeface="Microsoft YaHei"/>
              </a:rPr>
              <a:t>核心判断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572768"/>
            <a:ext cx="32461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AI 的价值，不在于替产品经理做判断，而在于更快地整理、对照、同步和暴露问题。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1546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DD7EF"/>
                </a:solidFill>
                <a:latin typeface="Microsoft YaHei"/>
              </a:rPr>
              <a:t>纸张管理扫码出入库项目 / 内部经验分享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443984"/>
            <a:ext cx="11430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459028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3294F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6" y="4983480"/>
            <a:ext cx="10607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个存量 ERP 迭代案例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4443984"/>
            <a:ext cx="11430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459028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3294F"/>
                </a:solidFill>
                <a:latin typeface="Microsoft YaHe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4983480"/>
            <a:ext cx="10607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组可复用章节结构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24744" y="4443984"/>
            <a:ext cx="11430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16184" y="459028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3294F"/>
                </a:solidFill>
                <a:latin typeface="Microsoft YaHei"/>
              </a:rPr>
              <a:t>3+3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4983480"/>
            <a:ext cx="10607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踩坑与有效做法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6291072"/>
            <a:ext cx="100584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" y="384048"/>
            <a:ext cx="1874519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3294F"/>
                </a:solidFill>
                <a:latin typeface="Microsoft YaHei"/>
              </a:rPr>
              <a:t>AI是怎么介入的，价值体现在哪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84048"/>
            <a:ext cx="169164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13294F"/>
                </a:solidFill>
                <a:latin typeface="Microsoft YaHei"/>
              </a:rPr>
              <a:t>企业复盘型主模板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977639" cy="4526280"/>
          </a:xfrm>
          <a:prstGeom prst="roundRect">
            <a:avLst/>
          </a:prstGeom>
          <a:solidFill>
            <a:srgbClr val="11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不是少思考了，而是这些环节明显更快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77440"/>
            <a:ext cx="3429000" cy="713232"/>
          </a:xfrm>
          <a:prstGeom prst="roundRect">
            <a:avLst/>
          </a:prstGeom>
          <a:solidFill>
            <a:srgbClr val="1E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50592"/>
            <a:ext cx="3154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需求整理提效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70048"/>
            <a:ext cx="3063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7DFF3"/>
                </a:solidFill>
                <a:latin typeface="Microsoft YaHei"/>
              </a:rPr>
              <a:t>把跨多轮对话的零散信息，先收成结构草稿。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46120"/>
            <a:ext cx="3429000" cy="713232"/>
          </a:xfrm>
          <a:prstGeom prst="roundRect">
            <a:avLst/>
          </a:prstGeom>
          <a:solidFill>
            <a:srgbClr val="1E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319272"/>
            <a:ext cx="3154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差异核查提效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538727"/>
            <a:ext cx="3063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7DFF3"/>
                </a:solidFill>
                <a:latin typeface="Microsoft YaHei"/>
              </a:rPr>
              <a:t>把原始需求、代码、PRD 放在一起做高密度对照。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14800"/>
            <a:ext cx="3429000" cy="713232"/>
          </a:xfrm>
          <a:prstGeom prst="roundRect">
            <a:avLst/>
          </a:prstGeom>
          <a:solidFill>
            <a:srgbClr val="1E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187952"/>
            <a:ext cx="3154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联动同步提效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407408"/>
            <a:ext cx="3063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7DFF3"/>
                </a:solidFill>
                <a:latin typeface="Microsoft YaHei"/>
              </a:rPr>
              <a:t>规则拍板后，把 PRD、原型和章节口径更快同步。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83480"/>
            <a:ext cx="3429000" cy="713232"/>
          </a:xfrm>
          <a:prstGeom prst="roundRect">
            <a:avLst/>
          </a:prstGeom>
          <a:solidFill>
            <a:srgbClr val="1E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056632"/>
            <a:ext cx="3154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问题暴露更早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276088"/>
            <a:ext cx="3063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D7DFF3"/>
                </a:solidFill>
                <a:latin typeface="Microsoft YaHei"/>
              </a:rPr>
              <a:t>很多原本靠人工来回翻材料才能发现的问题，会更早出现。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1554480"/>
            <a:ext cx="690372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8288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3294F"/>
                </a:solidFill>
                <a:latin typeface="Microsoft YaHei"/>
              </a:rPr>
              <a:t>这 4 类价值，对产品经理意味着什么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2331720"/>
            <a:ext cx="2743200" cy="10058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39512" y="2459736"/>
            <a:ext cx="329184" cy="329184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8424" y="245973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3294F"/>
                </a:solidFill>
                <a:latin typeface="Microsoft YaHei"/>
              </a:rPr>
              <a:t>少做机械整理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284378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16F89"/>
                </a:solidFill>
                <a:latin typeface="Microsoft YaHei"/>
              </a:rPr>
              <a:t>把时间从搬运信息，转到判断信息。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2331720"/>
            <a:ext cx="2743200" cy="10058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31352" y="2459736"/>
            <a:ext cx="329184" cy="329184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0264" y="245973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3294F"/>
                </a:solidFill>
                <a:latin typeface="Microsoft YaHei"/>
              </a:rPr>
              <a:t>少做重复核对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284378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16F89"/>
                </a:solidFill>
                <a:latin typeface="Microsoft YaHei"/>
              </a:rPr>
              <a:t>高耗时的对照工作，更适合先交给 AI。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4920" y="3703320"/>
            <a:ext cx="2743200" cy="10058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9512" y="3831336"/>
            <a:ext cx="329184" cy="329184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78424" y="383133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3294F"/>
                </a:solidFill>
                <a:latin typeface="Microsoft YaHei"/>
              </a:rPr>
              <a:t>少被碎活拖住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421538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16F89"/>
                </a:solidFill>
                <a:latin typeface="Microsoft YaHei"/>
              </a:rPr>
              <a:t>文档和原型同步这种碎工作，提效最明显。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3703320"/>
            <a:ext cx="2743200" cy="10058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31352" y="3831336"/>
            <a:ext cx="329184" cy="329184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0264" y="383133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3294F"/>
                </a:solidFill>
                <a:latin typeface="Microsoft YaHei"/>
              </a:rPr>
              <a:t>更聚焦高价值判断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421538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16F89"/>
                </a:solidFill>
                <a:latin typeface="Microsoft YaHei"/>
              </a:rPr>
              <a:t>边界、口径、风险和取舍，仍然必须由产品经理拍板。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74920" y="5102352"/>
            <a:ext cx="6355080" cy="713232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2E6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2" y="5321808"/>
            <a:ext cx="5897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3294F"/>
                </a:solidFill>
                <a:latin typeface="Microsoft YaHei"/>
              </a:rPr>
              <a:t>AI 的提效是成立的，但这个提效有边界。它节省的是整理、核查、同步和回写时间，不替代业务判断。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6291072"/>
            <a:ext cx="100584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F4F45"/>
                </a:solidFill>
                <a:latin typeface="Microsoft YaHei"/>
              </a:rPr>
              <a:t>CHAPTER 4 / CASE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3294F"/>
                </a:solidFill>
                <a:latin typeface="Microsoft YaHei"/>
              </a:rPr>
              <a:t>手机端件明细展示方式改造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912"/>
            <a:ext cx="1325880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13294F"/>
                </a:solidFill>
                <a:latin typeface="Microsoft YaHei"/>
              </a:rPr>
              <a:t>案例对比页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4480560" cy="3611880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F5C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68312" y="1508760"/>
            <a:ext cx="4572000" cy="36118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22392" y="2788920"/>
            <a:ext cx="1005840" cy="1005840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1792224"/>
            <a:ext cx="841248" cy="310896"/>
          </a:xfrm>
          <a:prstGeom prst="roundRect">
            <a:avLst/>
          </a:prstGeom>
          <a:solidFill>
            <a:srgbClr val="FD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EF4F45"/>
                </a:solidFill>
                <a:latin typeface="Microsoft YaHei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3294F"/>
                </a:solidFill>
                <a:latin typeface="Microsoft YaHei"/>
              </a:rPr>
              <a:t>容易带偏的说法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42032"/>
            <a:ext cx="3931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200" b="1">
                <a:solidFill>
                  <a:srgbClr val="13294F"/>
                </a:solidFill>
                <a:latin typeface="Microsoft YaHei"/>
              </a:rPr>
              <a:t>“提纸单和退纸单手机端的件明细展示方式我们要再考虑下……你思考下有什么改进方案。”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47872"/>
            <a:ext cx="3749039" cy="1325880"/>
          </a:xfrm>
          <a:prstGeom prst="rect">
            <a:avLst/>
          </a:prstGeom>
          <a:noFill/>
        </p:spPr>
        <p:txBody>
          <a:bodyPr wrap="square" lIns="73152" rIns="18288" tIns="36576" bIns="36576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3294F"/>
                </a:solidFill>
                <a:latin typeface="Microsoft YaHei"/>
              </a:defRPr>
            </a:pPr>
            <a:r>
              <a:t>给了 AI 很大的设计自由度</a:t>
            </a:r>
          </a:p>
          <a:p>
            <a:pPr>
              <a:spcAft>
                <a:spcPts val="700"/>
              </a:spcAft>
              <a:defRPr sz="1100">
                <a:solidFill>
                  <a:srgbClr val="13294F"/>
                </a:solidFill>
                <a:latin typeface="Microsoft YaHei"/>
              </a:defRPr>
            </a:pPr>
            <a:r>
              <a:t>没有锁定“必须轻改”</a:t>
            </a:r>
          </a:p>
          <a:p>
            <a:pPr>
              <a:spcAft>
                <a:spcPts val="700"/>
              </a:spcAft>
              <a:defRPr sz="1100">
                <a:solidFill>
                  <a:srgbClr val="13294F"/>
                </a:solidFill>
                <a:latin typeface="Microsoft YaHei"/>
              </a:defRPr>
            </a:pPr>
            <a:r>
              <a:t>没有限制“必须保留现有结构”</a:t>
            </a:r>
          </a:p>
          <a:p>
            <a:pPr>
              <a:spcAft>
                <a:spcPts val="700"/>
              </a:spcAft>
              <a:defRPr sz="1100">
                <a:solidFill>
                  <a:srgbClr val="13294F"/>
                </a:solidFill>
                <a:latin typeface="Microsoft YaHei"/>
              </a:defRPr>
            </a:pPr>
            <a:r>
              <a:t>结果是 AI 直接做出一版完整重构稿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1" y="1792224"/>
            <a:ext cx="841248" cy="310896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2E67F8"/>
                </a:solidFill>
                <a:latin typeface="Microsoft YaHei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7627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3294F"/>
                </a:solidFill>
                <a:latin typeface="Microsoft YaHei"/>
              </a:rPr>
              <a:t>更稳的说法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3488" y="2542032"/>
            <a:ext cx="400507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200" b="1">
                <a:solidFill>
                  <a:srgbClr val="13294F"/>
                </a:solidFill>
                <a:latin typeface="Microsoft YaHei"/>
              </a:rPr>
              <a:t>“先基于现有页面分析问题，只给轻改方向；如果改动超过原结构，先不要直接改原型。”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3547872"/>
            <a:ext cx="3794760" cy="1325880"/>
          </a:xfrm>
          <a:prstGeom prst="rect">
            <a:avLst/>
          </a:prstGeom>
          <a:noFill/>
        </p:spPr>
        <p:txBody>
          <a:bodyPr wrap="square" lIns="73152" rIns="18288" tIns="36576" bIns="36576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3294F"/>
                </a:solidFill>
                <a:latin typeface="Microsoft YaHei"/>
              </a:defRPr>
            </a:pPr>
            <a:r>
              <a:t>先收改造边界，再让 AI 出方案</a:t>
            </a:r>
          </a:p>
          <a:p>
            <a:pPr>
              <a:spcAft>
                <a:spcPts val="700"/>
              </a:spcAft>
              <a:defRPr sz="1100">
                <a:solidFill>
                  <a:srgbClr val="13294F"/>
                </a:solidFill>
                <a:latin typeface="Microsoft YaHei"/>
              </a:defRPr>
            </a:pPr>
            <a:r>
              <a:t>只改件明细展示，不重做整页结构</a:t>
            </a:r>
          </a:p>
          <a:p>
            <a:pPr>
              <a:spcAft>
                <a:spcPts val="700"/>
              </a:spcAft>
              <a:defRPr sz="1100">
                <a:solidFill>
                  <a:srgbClr val="13294F"/>
                </a:solidFill>
                <a:latin typeface="Microsoft YaHei"/>
              </a:defRPr>
            </a:pPr>
            <a:r>
              <a:t>先做最小改动试探，再决定是否扩展</a:t>
            </a:r>
          </a:p>
          <a:p>
            <a:pPr>
              <a:spcAft>
                <a:spcPts val="700"/>
              </a:spcAft>
              <a:defRPr sz="1100">
                <a:solidFill>
                  <a:srgbClr val="13294F"/>
                </a:solidFill>
                <a:latin typeface="Microsoft YaHei"/>
              </a:defRPr>
            </a:pPr>
            <a:r>
              <a:t>把“设计完整性”让位于“迭代风险可控”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376672"/>
            <a:ext cx="5559552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559552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为什么这个案例值得讲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760720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3294F"/>
                </a:solidFill>
                <a:latin typeface="Microsoft YaHei"/>
              </a:rPr>
              <a:t>它很典型地暴露了 AI 在存量功能迭代里的一个偏好：只要边界不够清楚，它就容易从“轻改”滑向“重做”。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2" y="5376672"/>
            <a:ext cx="5230368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/>
            <a:r>
              <a:rPr sz="1800" b="0">
                <a:solidFill>
                  <a:srgbClr val="13294F"/>
                </a:solidFill>
                <a:latin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5559552"/>
            <a:ext cx="1005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最后沉淀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5760720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3294F"/>
                </a:solidFill>
                <a:latin typeface="Microsoft YaHei"/>
              </a:rPr>
              <a:t>好指令的核心不是更复杂，而是阶段更明确、边界更清楚。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6291072"/>
            <a:ext cx="100584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