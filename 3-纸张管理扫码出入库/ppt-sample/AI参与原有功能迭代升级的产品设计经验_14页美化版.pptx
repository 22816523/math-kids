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053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539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719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067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137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638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141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662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605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7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149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4170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5789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4337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5820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5882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760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492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955279" y="-731520"/>
            <a:ext cx="4754880" cy="2743200"/>
          </a:xfrm>
          <a:prstGeom prst="ellipse">
            <a:avLst/>
          </a:prstGeom>
          <a:solidFill>
            <a:srgbClr val="21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961120" y="182880"/>
            <a:ext cx="2743200" cy="1828800"/>
          </a:xfrm>
          <a:prstGeom prst="ellipse">
            <a:avLst/>
          </a:prstGeom>
          <a:solidFill>
            <a:srgbClr val="35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457200" y="5120640"/>
            <a:ext cx="2926080" cy="1828800"/>
          </a:xfrm>
          <a:prstGeom prst="ellipse">
            <a:avLst/>
          </a:prstGeom>
          <a:solidFill>
            <a:srgbClr val="21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13232" y="713232"/>
            <a:ext cx="10698480" cy="5394960"/>
          </a:xfrm>
          <a:prstGeom prst="roundRect">
            <a:avLst/>
          </a:prstGeom>
          <a:solidFill>
            <a:srgbClr val="172D5C"/>
          </a:solidFill>
          <a:ln w="12700">
            <a:solidFill>
              <a:srgbClr val="41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77824" y="914400"/>
            <a:ext cx="6309360" cy="4983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88352" y="914400"/>
            <a:ext cx="3611880" cy="3246120"/>
          </a:xfrm>
          <a:prstGeom prst="roundRect">
            <a:avLst/>
          </a:prstGeom>
          <a:solidFill>
            <a:srgbClr val="35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88352" y="4343400"/>
            <a:ext cx="3611880" cy="1554480"/>
          </a:xfrm>
          <a:prstGeom prst="roundRect">
            <a:avLst/>
          </a:prstGeom>
          <a:solidFill>
            <a:srgbClr val="EC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15568" y="1188720"/>
            <a:ext cx="1234440" cy="310896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15568" y="126187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356EFF"/>
                </a:solidFill>
                <a:latin typeface="Microsoft YaHei"/>
              </a:rPr>
              <a:t>AI + PRODUCT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828800"/>
            <a:ext cx="54406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C2E54"/>
                </a:solidFill>
                <a:latin typeface="Microsoft YaHei"/>
              </a:rPr>
              <a:t>AI参与原有功能迭代升级的
产品设计经验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401568"/>
            <a:ext cx="512064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F6F8E"/>
                </a:solidFill>
                <a:latin typeface="Microsoft YaHei"/>
              </a:rPr>
              <a:t>以纸张管理扫码出入库项目为例，复盘 AI 在存量 ERP 功能迭代里如何真正给产品经理提效。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5568" y="4297680"/>
            <a:ext cx="111556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15568" y="4370832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原有ERP迭代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95728" y="4297680"/>
            <a:ext cx="111556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95728" y="4370832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案例复盘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75887" y="4297680"/>
            <a:ext cx="111556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75887" y="4370832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协作提效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62672" y="128016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核心判断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62672" y="1783080"/>
            <a:ext cx="28803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Microsoft YaHei"/>
              </a:rPr>
              <a:t>AI 的价值，不在于替产品经理做判断，而在于更快地整理、对照、同步和暴露问题。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16952" y="4553712"/>
            <a:ext cx="960120" cy="9692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16952" y="4663440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1C2E54"/>
                </a:solidFill>
                <a:latin typeface="Microsoft YaHe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499262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5F6F8E"/>
                </a:solidFill>
                <a:latin typeface="Microsoft YaHei"/>
              </a:rPr>
              <a:t>个存量ERP
案例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42248" y="4553712"/>
            <a:ext cx="960120" cy="9692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42248" y="4663440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1C2E54"/>
                </a:solidFill>
                <a:latin typeface="Microsoft YaHe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0536" y="499262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5F6F8E"/>
                </a:solidFill>
                <a:latin typeface="Microsoft YaHei"/>
              </a:rPr>
              <a:t>章分享主线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67544" y="4553712"/>
            <a:ext cx="960120" cy="9692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67544" y="4663440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1C2E54"/>
                </a:solidFill>
                <a:latin typeface="Microsoft YaHei"/>
              </a:rPr>
              <a:t>3+3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85832" y="499262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5F6F8E"/>
                </a:solidFill>
                <a:latin typeface="Microsoft YaHei"/>
              </a:rPr>
              <a:t>踩坑与有效
做法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744200" y="6236208"/>
            <a:ext cx="105156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744200" y="6318504"/>
            <a:ext cx="105156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1C2E54"/>
                </a:solidFill>
                <a:latin typeface="Microsoft YaHei"/>
              </a:rPr>
              <a:t>01/14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67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961120" y="-822960"/>
            <a:ext cx="4023360" cy="2560320"/>
          </a:xfrm>
          <a:prstGeom prst="ellipse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875520" y="-457200"/>
            <a:ext cx="2011680" cy="1280160"/>
          </a:xfrm>
          <a:prstGeom prst="ellipse">
            <a:avLst/>
          </a:prstGeom>
          <a:solidFill>
            <a:srgbClr val="EC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640080" y="5349240"/>
            <a:ext cx="2194560" cy="1371600"/>
          </a:xfrm>
          <a:prstGeom prst="ellipse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566928"/>
            <a:ext cx="1097280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566928"/>
            <a:ext cx="201168" cy="5440680"/>
          </a:xfrm>
          <a:prstGeom prst="roundRect">
            <a:avLst/>
          </a:prstGeom>
          <a:solidFill>
            <a:srgbClr val="67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87552" y="868680"/>
            <a:ext cx="1325880" cy="310896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941832"/>
            <a:ext cx="132588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67BBFF"/>
                </a:solidFill>
                <a:latin typeface="Microsoft YaHei"/>
              </a:rPr>
              <a:t>AGENDA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1353312"/>
            <a:ext cx="71323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C2E54"/>
                </a:solidFill>
                <a:latin typeface="Microsoft YaHei"/>
              </a:rPr>
              <a:t>目录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44200" y="6236208"/>
            <a:ext cx="105156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44200" y="6318504"/>
            <a:ext cx="105156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1C2E54"/>
                </a:solidFill>
                <a:latin typeface="Microsoft YaHei"/>
              </a:rPr>
              <a:t>02/14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1874519"/>
            <a:ext cx="1920240" cy="3611880"/>
          </a:xfrm>
          <a:prstGeom prst="roundRect">
            <a:avLst/>
          </a:prstGeom>
          <a:solidFill>
            <a:srgbClr val="0F2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98448" y="2331720"/>
            <a:ext cx="1371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这次分享
怎么讲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425196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CCD9F5"/>
                </a:solidFill>
                <a:latin typeface="Microsoft YaHei"/>
              </a:rPr>
              <a:t>7 个部分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1828800"/>
            <a:ext cx="7726679" cy="51206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474720" y="1920240"/>
            <a:ext cx="347472" cy="329184"/>
          </a:xfrm>
          <a:prstGeom prst="roundRect">
            <a:avLst/>
          </a:prstGeom>
          <a:solidFill>
            <a:srgbClr val="35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74720" y="1993392"/>
            <a:ext cx="347472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1975104"/>
            <a:ext cx="63550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C2E54"/>
                </a:solidFill>
                <a:latin typeface="Microsoft YaHei"/>
              </a:rPr>
              <a:t>为什么讲这个项目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40" y="2432304"/>
            <a:ext cx="7726679" cy="512064"/>
          </a:xfrm>
          <a:prstGeom prst="roundRect">
            <a:avLst/>
          </a:prstGeom>
          <a:solidFill>
            <a:srgbClr val="F8F5EE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474720" y="2523744"/>
            <a:ext cx="347472" cy="329184"/>
          </a:xfrm>
          <a:prstGeom prst="roundRect">
            <a:avLst/>
          </a:prstGeom>
          <a:solidFill>
            <a:srgbClr val="35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0" y="2596896"/>
            <a:ext cx="347472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2578608"/>
            <a:ext cx="63550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C2E54"/>
                </a:solidFill>
                <a:latin typeface="Microsoft YaHei"/>
              </a:rPr>
              <a:t>没有 AI 时，产品经理卡在哪里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91840" y="3035808"/>
            <a:ext cx="7726679" cy="51206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474720" y="3127248"/>
            <a:ext cx="347472" cy="329184"/>
          </a:xfrm>
          <a:prstGeom prst="roundRect">
            <a:avLst/>
          </a:prstGeom>
          <a:solidFill>
            <a:srgbClr val="35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74720" y="3200400"/>
            <a:ext cx="347472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39" y="3182112"/>
            <a:ext cx="63550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C2E54"/>
                </a:solidFill>
                <a:latin typeface="Microsoft YaHei"/>
              </a:rPr>
              <a:t>AI 是怎么介入的，价值体现在哪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91840" y="3639312"/>
            <a:ext cx="7726679" cy="512064"/>
          </a:xfrm>
          <a:prstGeom prst="roundRect">
            <a:avLst/>
          </a:prstGeom>
          <a:solidFill>
            <a:srgbClr val="F8F5EE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3474720" y="3730752"/>
            <a:ext cx="347472" cy="329184"/>
          </a:xfrm>
          <a:prstGeom prst="roundRect">
            <a:avLst/>
          </a:prstGeom>
          <a:solidFill>
            <a:srgbClr val="35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474720" y="3803904"/>
            <a:ext cx="347472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77639" y="3785616"/>
            <a:ext cx="63550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C2E54"/>
                </a:solidFill>
                <a:latin typeface="Microsoft YaHei"/>
              </a:rPr>
              <a:t>踩坑案例：AI 为什么会失控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91840" y="4242816"/>
            <a:ext cx="7726679" cy="51206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3474720" y="4334256"/>
            <a:ext cx="347472" cy="329184"/>
          </a:xfrm>
          <a:prstGeom prst="roundRect">
            <a:avLst/>
          </a:prstGeom>
          <a:solidFill>
            <a:srgbClr val="35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474720" y="4407408"/>
            <a:ext cx="347472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77639" y="4389120"/>
            <a:ext cx="63550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C2E54"/>
                </a:solidFill>
                <a:latin typeface="Microsoft YaHei"/>
              </a:rPr>
              <a:t>成功案例：怎样用 AI 才真正有效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91840" y="4846320"/>
            <a:ext cx="7726679" cy="512064"/>
          </a:xfrm>
          <a:prstGeom prst="roundRect">
            <a:avLst/>
          </a:prstGeom>
          <a:solidFill>
            <a:srgbClr val="F8F5EE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3474720" y="4937760"/>
            <a:ext cx="347472" cy="329184"/>
          </a:xfrm>
          <a:prstGeom prst="roundRect">
            <a:avLst/>
          </a:prstGeom>
          <a:solidFill>
            <a:srgbClr val="35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474720" y="5010912"/>
            <a:ext cx="347472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77639" y="4992624"/>
            <a:ext cx="63550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C2E54"/>
                </a:solidFill>
                <a:latin typeface="Microsoft YaHei"/>
              </a:rPr>
              <a:t>协作指令模式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91840" y="5449824"/>
            <a:ext cx="7726679" cy="51206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3474720" y="5541264"/>
            <a:ext cx="347472" cy="329184"/>
          </a:xfrm>
          <a:prstGeom prst="roundRect">
            <a:avLst/>
          </a:prstGeom>
          <a:solidFill>
            <a:srgbClr val="35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474720" y="5614416"/>
            <a:ext cx="347472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77639" y="5596128"/>
            <a:ext cx="63550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C2E54"/>
                </a:solidFill>
                <a:latin typeface="Microsoft YaHei"/>
              </a:rPr>
              <a:t>最后想传递的结论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35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961120" y="-822960"/>
            <a:ext cx="4023360" cy="2560320"/>
          </a:xfrm>
          <a:prstGeom prst="ellipse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875520" y="-457200"/>
            <a:ext cx="2011680" cy="1280160"/>
          </a:xfrm>
          <a:prstGeom prst="ellipse">
            <a:avLst/>
          </a:prstGeom>
          <a:solidFill>
            <a:srgbClr val="EC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640080" y="5349240"/>
            <a:ext cx="2194560" cy="1371600"/>
          </a:xfrm>
          <a:prstGeom prst="ellipse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566928"/>
            <a:ext cx="1097280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566928"/>
            <a:ext cx="201168" cy="5440680"/>
          </a:xfrm>
          <a:prstGeom prst="roundRect">
            <a:avLst/>
          </a:prstGeom>
          <a:solidFill>
            <a:srgbClr val="35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87552" y="868680"/>
            <a:ext cx="1325880" cy="310896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941832"/>
            <a:ext cx="132588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356EFF"/>
                </a:solidFill>
                <a:latin typeface="Microsoft YaHei"/>
              </a:rPr>
              <a:t>CHAPTER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1353312"/>
            <a:ext cx="71323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C2E54"/>
                </a:solidFill>
                <a:latin typeface="Microsoft YaHei"/>
              </a:rPr>
              <a:t>为什么讲这个项目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44200" y="6236208"/>
            <a:ext cx="105156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44200" y="6318504"/>
            <a:ext cx="105156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1C2E54"/>
                </a:solidFill>
                <a:latin typeface="Microsoft YaHei"/>
              </a:rPr>
              <a:t>03/14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1828800"/>
            <a:ext cx="4160520" cy="361188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13248" y="1828800"/>
            <a:ext cx="5394960" cy="3611880"/>
          </a:xfrm>
          <a:prstGeom prst="roundRect">
            <a:avLst/>
          </a:prstGeom>
          <a:solidFill>
            <a:srgbClr val="0F2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43584" y="2084831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C2E54"/>
                </a:solidFill>
                <a:latin typeface="Microsoft YaHei"/>
              </a:rPr>
              <a:t>为什么适合拿来分享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2578608"/>
            <a:ext cx="3566160" cy="23317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C2E54"/>
                </a:solidFill>
                <a:latin typeface="Microsoft YaHei"/>
              </a:defRPr>
            </a:pPr>
            <a:r>
              <a:t>不是从 0 到 1，而是原有 ERP 功能迭代升级</a:t>
            </a:r>
          </a:p>
          <a:p>
            <a:pPr>
              <a:spcAft>
                <a:spcPts val="700"/>
              </a:spcAft>
              <a:defRPr sz="1400">
                <a:solidFill>
                  <a:srgbClr val="1C2E54"/>
                </a:solidFill>
                <a:latin typeface="Microsoft YaHei"/>
              </a:defRPr>
            </a:pPr>
            <a:r>
              <a:t>更接近大多数产品经理真实工作场景</a:t>
            </a:r>
          </a:p>
          <a:p>
            <a:pPr>
              <a:spcAft>
                <a:spcPts val="700"/>
              </a:spcAft>
              <a:defRPr sz="1400">
                <a:solidFill>
                  <a:srgbClr val="1C2E54"/>
                </a:solidFill>
                <a:latin typeface="Microsoft YaHei"/>
              </a:defRPr>
            </a:pPr>
            <a:r>
              <a:t>原始需求、Codex 对话、PRD、原型都有留痕</a:t>
            </a:r>
          </a:p>
          <a:p>
            <a:pPr>
              <a:spcAft>
                <a:spcPts val="700"/>
              </a:spcAft>
              <a:defRPr sz="1400">
                <a:solidFill>
                  <a:srgbClr val="1C2E54"/>
                </a:solidFill>
                <a:latin typeface="Microsoft YaHei"/>
              </a:defRPr>
            </a:pPr>
            <a:r>
              <a:t>能完整复盘 AI 的价值和边界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2057400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7BBFF"/>
                </a:solidFill>
                <a:latin typeface="Microsoft YaHei"/>
              </a:rPr>
              <a:t>项目背景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2487168"/>
            <a:ext cx="448056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在已有纸张管理能力上，从“纸张品类/规格管理”升级为支持一物一码、扫码出入库、库位管理的件级管理能力。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4114800"/>
            <a:ext cx="4480560" cy="10972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核心模块：随货同行单、提纸单、退纸单、一物一码查询</a:t>
            </a:r>
          </a:p>
          <a:p>
            <a:pPr>
              <a:spcAft>
                <a:spcPts val="7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关键议题：库位接入、二维码流转、历史库存初始化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35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961120" y="-822960"/>
            <a:ext cx="4023360" cy="2560320"/>
          </a:xfrm>
          <a:prstGeom prst="ellipse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875520" y="-457200"/>
            <a:ext cx="2011680" cy="1280160"/>
          </a:xfrm>
          <a:prstGeom prst="ellipse">
            <a:avLst/>
          </a:prstGeom>
          <a:solidFill>
            <a:srgbClr val="EC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640080" y="5349240"/>
            <a:ext cx="2194560" cy="1371600"/>
          </a:xfrm>
          <a:prstGeom prst="ellipse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566928"/>
            <a:ext cx="1097280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566928"/>
            <a:ext cx="201168" cy="5440680"/>
          </a:xfrm>
          <a:prstGeom prst="roundRect">
            <a:avLst/>
          </a:prstGeom>
          <a:solidFill>
            <a:srgbClr val="35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87552" y="868680"/>
            <a:ext cx="1325880" cy="310896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941832"/>
            <a:ext cx="132588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356EFF"/>
                </a:solidFill>
                <a:latin typeface="Microsoft YaHei"/>
              </a:rPr>
              <a:t>CHAPTER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1353312"/>
            <a:ext cx="71323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C2E54"/>
                </a:solidFill>
                <a:latin typeface="Microsoft YaHei"/>
              </a:rPr>
              <a:t>没有 AI 时，产品经理卡在哪里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44200" y="6236208"/>
            <a:ext cx="105156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44200" y="6318504"/>
            <a:ext cx="105156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1C2E54"/>
                </a:solidFill>
                <a:latin typeface="Microsoft YaHei"/>
              </a:rPr>
              <a:t>04/14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1993392"/>
            <a:ext cx="2331720" cy="265176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25296" y="2286000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C2E54"/>
                </a:solidFill>
                <a:latin typeface="Microsoft YaHei"/>
              </a:rPr>
              <a:t>需求零散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2834640"/>
            <a:ext cx="1847088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F6F8E"/>
                </a:solidFill>
                <a:latin typeface="Microsoft YaHei"/>
              </a:rPr>
              <a:t>信息跨多轮对话分散，前后补充多，容易漏。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85032" y="1993392"/>
            <a:ext cx="2331720" cy="2651760"/>
          </a:xfrm>
          <a:prstGeom prst="roundRect">
            <a:avLst/>
          </a:prstGeom>
          <a:solidFill>
            <a:srgbClr val="F8F5EE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86200" y="2286000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C2E54"/>
                </a:solidFill>
                <a:latin typeface="Microsoft YaHei"/>
              </a:rPr>
              <a:t>材料打架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2834640"/>
            <a:ext cx="1847088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F6F8E"/>
                </a:solidFill>
                <a:latin typeface="Microsoft YaHei"/>
              </a:rPr>
              <a:t>原始需求、代码、PRD 经常不在一个口径上。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45936" y="1993392"/>
            <a:ext cx="2331720" cy="265176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47104" y="2286000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C2E54"/>
                </a:solidFill>
                <a:latin typeface="Microsoft YaHei"/>
              </a:rPr>
              <a:t>联动很碎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834640"/>
            <a:ext cx="1847088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F6F8E"/>
                </a:solidFill>
                <a:latin typeface="Microsoft YaHei"/>
              </a:rPr>
              <a:t>原型、文档、规则要同步回写，机械活很多。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6840" y="1993392"/>
            <a:ext cx="2331720" cy="2651760"/>
          </a:xfrm>
          <a:prstGeom prst="roundRect">
            <a:avLst/>
          </a:prstGeom>
          <a:solidFill>
            <a:srgbClr val="F8F5EE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08008" y="2286000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C2E54"/>
                </a:solidFill>
                <a:latin typeface="Microsoft YaHei"/>
              </a:rPr>
              <a:t>范围失控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08008" y="2834640"/>
            <a:ext cx="1847088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F6F8E"/>
                </a:solidFill>
                <a:latin typeface="Microsoft YaHei"/>
              </a:rPr>
              <a:t>一不留神就从轻改滑向重做，越做越大。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" y="4919472"/>
            <a:ext cx="10012680" cy="566928"/>
          </a:xfrm>
          <a:prstGeom prst="roundRect">
            <a:avLst/>
          </a:prstGeom>
          <a:solidFill>
            <a:srgbClr val="0F2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34440" y="5102352"/>
            <a:ext cx="95097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这个项目真正难的，不是“想不出方案”，而是“怎么贴着现有系统现实收口”。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67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961120" y="-822960"/>
            <a:ext cx="4023360" cy="2560320"/>
          </a:xfrm>
          <a:prstGeom prst="ellipse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875520" y="-457200"/>
            <a:ext cx="2011680" cy="1280160"/>
          </a:xfrm>
          <a:prstGeom prst="ellipse">
            <a:avLst/>
          </a:prstGeom>
          <a:solidFill>
            <a:srgbClr val="EC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640080" y="5349240"/>
            <a:ext cx="2194560" cy="1371600"/>
          </a:xfrm>
          <a:prstGeom prst="ellipse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566928"/>
            <a:ext cx="1097280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566928"/>
            <a:ext cx="201168" cy="5440680"/>
          </a:xfrm>
          <a:prstGeom prst="roundRect">
            <a:avLst/>
          </a:prstGeom>
          <a:solidFill>
            <a:srgbClr val="67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87552" y="868680"/>
            <a:ext cx="1325880" cy="310896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941832"/>
            <a:ext cx="132588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67BBFF"/>
                </a:solidFill>
                <a:latin typeface="Microsoft YaHei"/>
              </a:rPr>
              <a:t>CHAPTER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1353312"/>
            <a:ext cx="71323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C2E54"/>
                </a:solidFill>
                <a:latin typeface="Microsoft YaHei"/>
              </a:rPr>
              <a:t>AI 是怎么介入的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44200" y="6236208"/>
            <a:ext cx="105156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44200" y="6318504"/>
            <a:ext cx="105156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1C2E54"/>
                </a:solidFill>
                <a:latin typeface="Microsoft YaHei"/>
              </a:rPr>
              <a:t>05/14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084831"/>
            <a:ext cx="2212848" cy="2852928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261872" y="2267712"/>
            <a:ext cx="411480" cy="347472"/>
          </a:xfrm>
          <a:prstGeom prst="roundRect">
            <a:avLst/>
          </a:prstGeom>
          <a:solidFill>
            <a:srgbClr val="35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61872" y="2350008"/>
            <a:ext cx="41148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304288"/>
            <a:ext cx="11887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C2E54"/>
                </a:solidFill>
                <a:latin typeface="Microsoft YaHei"/>
              </a:rPr>
              <a:t>需求整理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2999232"/>
            <a:ext cx="1737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F6F8E"/>
                </a:solidFill>
                <a:latin typeface="Microsoft YaHei"/>
              </a:rPr>
              <a:t>把零散原始需求先收成结构稿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64991" y="3246120"/>
            <a:ext cx="2011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356EFF"/>
                </a:solidFill>
                <a:latin typeface="Microsoft YaHe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49039" y="2084831"/>
            <a:ext cx="2212848" cy="2852928"/>
          </a:xfrm>
          <a:prstGeom prst="roundRect">
            <a:avLst/>
          </a:prstGeom>
          <a:solidFill>
            <a:srgbClr val="F8F5EE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913631" y="2267712"/>
            <a:ext cx="411480" cy="347472"/>
          </a:xfrm>
          <a:prstGeom prst="roundRect">
            <a:avLst/>
          </a:prstGeom>
          <a:solidFill>
            <a:srgbClr val="35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913631" y="2350008"/>
            <a:ext cx="41148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59" y="2304288"/>
            <a:ext cx="11887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C2E54"/>
                </a:solidFill>
                <a:latin typeface="Microsoft YaHei"/>
              </a:rPr>
              <a:t>三方对照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13631" y="2999232"/>
            <a:ext cx="1737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F6F8E"/>
                </a:solidFill>
                <a:latin typeface="Microsoft YaHei"/>
              </a:rPr>
              <a:t>原始需求 + 代码 + PRD 高密度核查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16752" y="3246120"/>
            <a:ext cx="2011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356EFF"/>
                </a:solidFill>
                <a:latin typeface="Microsoft YaHe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2084831"/>
            <a:ext cx="2212848" cy="2852928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565392" y="2267712"/>
            <a:ext cx="411480" cy="347472"/>
          </a:xfrm>
          <a:prstGeom prst="roundRect">
            <a:avLst/>
          </a:prstGeom>
          <a:solidFill>
            <a:srgbClr val="35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65392" y="2350008"/>
            <a:ext cx="41148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2304288"/>
            <a:ext cx="11887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C2E54"/>
                </a:solidFill>
                <a:latin typeface="Microsoft YaHei"/>
              </a:rPr>
              <a:t>联动同步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65392" y="2999232"/>
            <a:ext cx="1737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F6F8E"/>
                </a:solidFill>
                <a:latin typeface="Microsoft YaHei"/>
              </a:rPr>
              <a:t>规则拍板后同步文档与原型口径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68512" y="3246120"/>
            <a:ext cx="2011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356EFF"/>
                </a:solidFill>
                <a:latin typeface="Microsoft YaHei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52560" y="2084831"/>
            <a:ext cx="2212848" cy="2852928"/>
          </a:xfrm>
          <a:prstGeom prst="roundRect">
            <a:avLst/>
          </a:prstGeom>
          <a:solidFill>
            <a:srgbClr val="F8F5EE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217152" y="2267712"/>
            <a:ext cx="411480" cy="347472"/>
          </a:xfrm>
          <a:prstGeom prst="roundRect">
            <a:avLst/>
          </a:prstGeom>
          <a:solidFill>
            <a:srgbClr val="35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217152" y="2350008"/>
            <a:ext cx="41148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2304288"/>
            <a:ext cx="11887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C2E54"/>
                </a:solidFill>
                <a:latin typeface="Microsoft YaHei"/>
              </a:rPr>
              <a:t>问题暴露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17152" y="2999232"/>
            <a:ext cx="1737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F6F8E"/>
                </a:solidFill>
                <a:latin typeface="Microsoft YaHei"/>
              </a:rPr>
              <a:t>更早暴露冲突、遗漏和不一致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97280" y="5230368"/>
            <a:ext cx="10012680" cy="411480"/>
          </a:xfrm>
          <a:prstGeom prst="roundRect">
            <a:avLst/>
          </a:prstGeom>
          <a:solidFill>
            <a:srgbClr val="ECF8FF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298448" y="5358384"/>
            <a:ext cx="9601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C2E54"/>
                </a:solidFill>
                <a:latin typeface="Microsoft YaHei"/>
              </a:rPr>
              <a:t>这里最值钱的不是“让 AI 写”，而是让 AI 先对、先找、先暴露。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67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961120" y="-822960"/>
            <a:ext cx="4023360" cy="2560320"/>
          </a:xfrm>
          <a:prstGeom prst="ellipse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875520" y="-457200"/>
            <a:ext cx="2011680" cy="1280160"/>
          </a:xfrm>
          <a:prstGeom prst="ellipse">
            <a:avLst/>
          </a:prstGeom>
          <a:solidFill>
            <a:srgbClr val="EC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640080" y="5349240"/>
            <a:ext cx="2194560" cy="1371600"/>
          </a:xfrm>
          <a:prstGeom prst="ellipse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566928"/>
            <a:ext cx="1097280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566928"/>
            <a:ext cx="201168" cy="5440680"/>
          </a:xfrm>
          <a:prstGeom prst="roundRect">
            <a:avLst/>
          </a:prstGeom>
          <a:solidFill>
            <a:srgbClr val="67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87552" y="868680"/>
            <a:ext cx="1325880" cy="310896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941832"/>
            <a:ext cx="132588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67BBFF"/>
                </a:solidFill>
                <a:latin typeface="Microsoft YaHei"/>
              </a:rPr>
              <a:t>CHAPTER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1353312"/>
            <a:ext cx="71323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C2E54"/>
                </a:solidFill>
                <a:latin typeface="Microsoft YaHei"/>
              </a:rPr>
              <a:t>AI 的价值体现在哪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44200" y="6236208"/>
            <a:ext cx="105156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44200" y="6318504"/>
            <a:ext cx="105156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1C2E54"/>
                </a:solidFill>
                <a:latin typeface="Microsoft YaHei"/>
              </a:rPr>
              <a:t>06/14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1828800"/>
            <a:ext cx="3474720" cy="3657600"/>
          </a:xfrm>
          <a:prstGeom prst="roundRect">
            <a:avLst/>
          </a:prstGeom>
          <a:solidFill>
            <a:srgbClr val="0F2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61872" y="2084831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AI 对产品经理的提效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2606040"/>
            <a:ext cx="2651760" cy="21945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原始需求整理更快</a:t>
            </a:r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差异核查更快</a:t>
            </a:r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联动同步更快</a:t>
            </a:r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问题暴露更早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4956048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7BBFF"/>
                </a:solidFill>
                <a:latin typeface="Microsoft YaHei"/>
              </a:rPr>
              <a:t>不是少思考了，而是少做机械整理和重复核对。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00600" y="1965960"/>
            <a:ext cx="2560320" cy="1353312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83480" y="2167128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C2E54"/>
                </a:solidFill>
                <a:latin typeface="Microsoft YaHei"/>
              </a:rPr>
              <a:t>节省的时间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2624328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F6F8E"/>
                </a:solidFill>
                <a:latin typeface="Microsoft YaHei"/>
              </a:rPr>
              <a:t>整理、核查、同步、回写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1965960"/>
            <a:ext cx="2560320" cy="1353312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01000" y="2167128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C2E54"/>
                </a:solidFill>
                <a:latin typeface="Microsoft YaHei"/>
              </a:rPr>
              <a:t>保留给 PM 的事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2624328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F6F8E"/>
                </a:solidFill>
                <a:latin typeface="Microsoft YaHei"/>
              </a:rPr>
              <a:t>边界判断、规则拍板、最终取舍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00600" y="3749039"/>
            <a:ext cx="2560320" cy="1353312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83480" y="3950207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C2E54"/>
                </a:solidFill>
                <a:latin typeface="Microsoft YaHei"/>
              </a:rPr>
              <a:t>AI 不擅长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4407407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F6F8E"/>
                </a:solidFill>
                <a:latin typeface="Microsoft YaHei"/>
              </a:rPr>
              <a:t>自动理解真实业务边界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18120" y="3749039"/>
            <a:ext cx="2560320" cy="1353312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01000" y="3950207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C2E54"/>
                </a:solidFill>
                <a:latin typeface="Microsoft YaHei"/>
              </a:rPr>
              <a:t>最优模式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4407407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F6F8E"/>
                </a:solidFill>
                <a:latin typeface="Microsoft YaHei"/>
              </a:rPr>
              <a:t>人拍板，AI 做大部分高耗时协作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EA5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961120" y="-822960"/>
            <a:ext cx="4023360" cy="2560320"/>
          </a:xfrm>
          <a:prstGeom prst="ellipse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875520" y="-457200"/>
            <a:ext cx="2011680" cy="1280160"/>
          </a:xfrm>
          <a:prstGeom prst="ellipse">
            <a:avLst/>
          </a:prstGeom>
          <a:solidFill>
            <a:srgbClr val="EC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640080" y="5349240"/>
            <a:ext cx="2194560" cy="1371600"/>
          </a:xfrm>
          <a:prstGeom prst="ellipse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566928"/>
            <a:ext cx="1097280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566928"/>
            <a:ext cx="201168" cy="5440680"/>
          </a:xfrm>
          <a:prstGeom prst="roundRect">
            <a:avLst/>
          </a:prstGeom>
          <a:solidFill>
            <a:srgbClr val="EA5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87552" y="868680"/>
            <a:ext cx="1325880" cy="310896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941832"/>
            <a:ext cx="132588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EA584E"/>
                </a:solidFill>
                <a:latin typeface="Microsoft YaHei"/>
              </a:rPr>
              <a:t>CHAPTER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1353312"/>
            <a:ext cx="71323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C2E54"/>
                </a:solidFill>
                <a:latin typeface="Microsoft YaHei"/>
              </a:rPr>
              <a:t>踩坑案例：AI 为什么会失控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44200" y="6236208"/>
            <a:ext cx="105156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44200" y="6318504"/>
            <a:ext cx="105156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1C2E54"/>
                </a:solidFill>
                <a:latin typeface="Microsoft YaHei"/>
              </a:rPr>
              <a:t>07/14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1828800"/>
            <a:ext cx="4663440" cy="3611880"/>
          </a:xfrm>
          <a:prstGeom prst="roundRect">
            <a:avLst/>
          </a:prstGeom>
          <a:solidFill>
            <a:srgbClr val="FFF2EF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25296" y="2011680"/>
            <a:ext cx="425195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C2E54"/>
                </a:solidFill>
                <a:latin typeface="Microsoft YaHei"/>
              </a:rPr>
              <a:t>案例1：误判二维码能力可复用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2395728"/>
            <a:ext cx="4572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F6F8E"/>
                </a:solidFill>
                <a:latin typeface="Microsoft YaHei"/>
              </a:rPr>
              <a:t>问题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5648" y="2395728"/>
            <a:ext cx="3703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C2E54"/>
                </a:solidFill>
                <a:latin typeface="Microsoft YaHei"/>
              </a:rPr>
              <a:t>把产成品二维码当成纸张二维码，默认应复用旧能力。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5296" y="2926080"/>
            <a:ext cx="4572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F6F8E"/>
                </a:solidFill>
                <a:latin typeface="Microsoft YaHei"/>
              </a:rPr>
              <a:t>纠偏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55648" y="2926080"/>
            <a:ext cx="3703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C2E54"/>
                </a:solidFill>
                <a:latin typeface="Microsoft YaHei"/>
              </a:rPr>
              <a:t>明确指出原来的码是给产成品用的，不是给纸张用的。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5296" y="3456432"/>
            <a:ext cx="4572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F6F8E"/>
                </a:solidFill>
                <a:latin typeface="Microsoft YaHei"/>
              </a:rPr>
              <a:t>沉淀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55648" y="3456432"/>
            <a:ext cx="3703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C2E54"/>
                </a:solidFill>
                <a:latin typeface="Microsoft YaHei"/>
              </a:rPr>
              <a:t>系统里有相似能力，不等于业务上真可复用。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89320" y="1828800"/>
            <a:ext cx="4818888" cy="361188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90488" y="2011680"/>
            <a:ext cx="440740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C2E54"/>
                </a:solidFill>
                <a:latin typeface="Microsoft YaHei"/>
              </a:rPr>
              <a:t>案例2：把 WMS 和初始化带进方案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0488" y="2395728"/>
            <a:ext cx="4572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F6F8E"/>
                </a:solidFill>
                <a:latin typeface="Microsoft YaHei"/>
              </a:rPr>
              <a:t>问题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2395728"/>
            <a:ext cx="385876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C2E54"/>
                </a:solidFill>
                <a:latin typeface="Microsoft YaHei"/>
              </a:rPr>
              <a:t>把实施项和后端处理项默认写成产品功能，范围做大。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0488" y="2926080"/>
            <a:ext cx="4572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F6F8E"/>
                </a:solidFill>
                <a:latin typeface="Microsoft YaHei"/>
              </a:rPr>
              <a:t>纠偏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2926080"/>
            <a:ext cx="385876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C2E54"/>
                </a:solidFill>
                <a:latin typeface="Microsoft YaHei"/>
              </a:rPr>
              <a:t>明确纸张只在 ERP 内闭环，初始化只做后端导入。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0488" y="3456432"/>
            <a:ext cx="4572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F6F8E"/>
                </a:solidFill>
                <a:latin typeface="Microsoft YaHei"/>
              </a:rPr>
              <a:t>沉淀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3456432"/>
            <a:ext cx="38587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C2E54"/>
                </a:solidFill>
                <a:latin typeface="Microsoft YaHei"/>
              </a:rPr>
              <a:t>导入、同步、历史数据要先分清是功能、实施项还是后端处理项。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EA5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961120" y="-822960"/>
            <a:ext cx="4023360" cy="2560320"/>
          </a:xfrm>
          <a:prstGeom prst="ellipse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875520" y="-457200"/>
            <a:ext cx="2011680" cy="1280160"/>
          </a:xfrm>
          <a:prstGeom prst="ellipse">
            <a:avLst/>
          </a:prstGeom>
          <a:solidFill>
            <a:srgbClr val="EC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640080" y="5349240"/>
            <a:ext cx="2194560" cy="1371600"/>
          </a:xfrm>
          <a:prstGeom prst="ellipse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566928"/>
            <a:ext cx="1097280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566928"/>
            <a:ext cx="201168" cy="5440680"/>
          </a:xfrm>
          <a:prstGeom prst="roundRect">
            <a:avLst/>
          </a:prstGeom>
          <a:solidFill>
            <a:srgbClr val="EA5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87552" y="868680"/>
            <a:ext cx="1325880" cy="310896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941832"/>
            <a:ext cx="132588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EA584E"/>
                </a:solidFill>
                <a:latin typeface="Microsoft YaHei"/>
              </a:rPr>
              <a:t>CHAPTER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1353312"/>
            <a:ext cx="71323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C2E54"/>
                </a:solidFill>
                <a:latin typeface="Microsoft YaHei"/>
              </a:rPr>
              <a:t>踩坑案例：AI 为什么会失控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44200" y="6236208"/>
            <a:ext cx="105156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44200" y="6318504"/>
            <a:ext cx="105156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1C2E54"/>
                </a:solidFill>
                <a:latin typeface="Microsoft YaHei"/>
              </a:rPr>
              <a:t>08/14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1828800"/>
            <a:ext cx="4663440" cy="361188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25296" y="2011680"/>
            <a:ext cx="425195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C2E54"/>
                </a:solidFill>
                <a:latin typeface="Microsoft YaHei"/>
              </a:rPr>
              <a:t>案例3：以为流程不变，改造量其实不小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2395728"/>
            <a:ext cx="4572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F6F8E"/>
                </a:solidFill>
                <a:latin typeface="Microsoft YaHei"/>
              </a:rPr>
              <a:t>问题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5648" y="2395728"/>
            <a:ext cx="3703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C2E54"/>
                </a:solidFill>
                <a:latin typeface="Microsoft YaHei"/>
              </a:rPr>
              <a:t>“流程不变，只加扫码”会低估状态、按钮和数据承载改造量。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5296" y="2926080"/>
            <a:ext cx="4572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F6F8E"/>
                </a:solidFill>
                <a:latin typeface="Microsoft YaHei"/>
              </a:rPr>
              <a:t>纠偏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55648" y="2926080"/>
            <a:ext cx="3703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C2E54"/>
                </a:solidFill>
                <a:latin typeface="Microsoft YaHei"/>
              </a:rPr>
              <a:t>回到代码现实，按真实状态机和节点重写 PRD。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5296" y="3456432"/>
            <a:ext cx="4572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F6F8E"/>
                </a:solidFill>
                <a:latin typeface="Microsoft YaHei"/>
              </a:rPr>
              <a:t>沉淀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55648" y="3456432"/>
            <a:ext cx="3703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C2E54"/>
                </a:solidFill>
                <a:latin typeface="Microsoft YaHei"/>
              </a:rPr>
              <a:t>业务表达上的“流程不变”，不能直接等于技术工作量很小。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89320" y="1828800"/>
            <a:ext cx="4818888" cy="3611880"/>
          </a:xfrm>
          <a:prstGeom prst="roundRect">
            <a:avLst/>
          </a:prstGeom>
          <a:solidFill>
            <a:srgbClr val="FFF2EF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90488" y="2011680"/>
            <a:ext cx="440740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C2E54"/>
                </a:solidFill>
                <a:latin typeface="Microsoft YaHei"/>
              </a:rPr>
              <a:t>案例4：手机端原型一次改太大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0488" y="2395728"/>
            <a:ext cx="4572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F6F8E"/>
                </a:solidFill>
                <a:latin typeface="Microsoft YaHei"/>
              </a:rPr>
              <a:t>问题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2395728"/>
            <a:ext cx="385876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C2E54"/>
                </a:solidFill>
                <a:latin typeface="Microsoft YaHei"/>
              </a:rPr>
              <a:t>AI 按更理想的新方案重构页面，已经接近重新设计。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0488" y="2926080"/>
            <a:ext cx="4572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F6F8E"/>
                </a:solidFill>
                <a:latin typeface="Microsoft YaHei"/>
              </a:rPr>
              <a:t>纠偏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2926080"/>
            <a:ext cx="385876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C2E54"/>
                </a:solidFill>
                <a:latin typeface="Microsoft YaHei"/>
              </a:rPr>
              <a:t>保留对比版，回到轻改路径，只改件明细展示方式。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0488" y="3456432"/>
            <a:ext cx="4572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F6F8E"/>
                </a:solidFill>
                <a:latin typeface="Microsoft YaHei"/>
              </a:rPr>
              <a:t>沉淀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3456432"/>
            <a:ext cx="38587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C2E54"/>
                </a:solidFill>
                <a:latin typeface="Microsoft YaHei"/>
              </a:rPr>
              <a:t>在存量系统迭代里，控制改造风险往往比设计更完整更重要。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EA5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961120" y="-822960"/>
            <a:ext cx="4023360" cy="2560320"/>
          </a:xfrm>
          <a:prstGeom prst="ellipse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875520" y="-457200"/>
            <a:ext cx="2011680" cy="1280160"/>
          </a:xfrm>
          <a:prstGeom prst="ellipse">
            <a:avLst/>
          </a:prstGeom>
          <a:solidFill>
            <a:srgbClr val="EC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640080" y="5349240"/>
            <a:ext cx="2194560" cy="1371600"/>
          </a:xfrm>
          <a:prstGeom prst="ellipse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566928"/>
            <a:ext cx="1097280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566928"/>
            <a:ext cx="201168" cy="5440680"/>
          </a:xfrm>
          <a:prstGeom prst="roundRect">
            <a:avLst/>
          </a:prstGeom>
          <a:solidFill>
            <a:srgbClr val="EA5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87552" y="868680"/>
            <a:ext cx="1325880" cy="310896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941832"/>
            <a:ext cx="132588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EA584E"/>
                </a:solidFill>
                <a:latin typeface="Microsoft YaHei"/>
              </a:rPr>
              <a:t>CHAPTER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1353312"/>
            <a:ext cx="71323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C2E54"/>
                </a:solidFill>
                <a:latin typeface="Microsoft YaHei"/>
              </a:rPr>
              <a:t>这一类坑的共性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44200" y="6236208"/>
            <a:ext cx="105156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44200" y="6318504"/>
            <a:ext cx="105156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1C2E54"/>
                </a:solidFill>
                <a:latin typeface="Microsoft YaHei"/>
              </a:rPr>
              <a:t>09/14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2011680"/>
            <a:ext cx="4572000" cy="123444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25296" y="2212848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C2E54"/>
                </a:solidFill>
                <a:latin typeface="Microsoft YaHei"/>
              </a:rPr>
              <a:t>套旧经验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2670048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F6F8E"/>
                </a:solidFill>
                <a:latin typeface="Microsoft YaHei"/>
              </a:rPr>
              <a:t>看到相似能力，就默认应该复用。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2011680"/>
            <a:ext cx="4572000" cy="1234440"/>
          </a:xfrm>
          <a:prstGeom prst="roundRect">
            <a:avLst/>
          </a:prstGeom>
          <a:solidFill>
            <a:srgbClr val="F8F5EE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90488" y="2212848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C2E54"/>
                </a:solidFill>
                <a:latin typeface="Microsoft YaHei"/>
              </a:rPr>
              <a:t>自动扩范围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0488" y="2670048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F6F8E"/>
                </a:solidFill>
                <a:latin typeface="Microsoft YaHei"/>
              </a:rPr>
              <a:t>把实施项、导入、对接都产品化。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4128" y="3840480"/>
            <a:ext cx="4572000" cy="123444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25296" y="4041648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C2E54"/>
                </a:solidFill>
                <a:latin typeface="Microsoft YaHei"/>
              </a:rPr>
              <a:t>理想化重设计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4498848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F6F8E"/>
                </a:solidFill>
                <a:latin typeface="Microsoft YaHei"/>
              </a:rPr>
              <a:t>更愿意给新方案，而不是贴着现有系统轻改。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89320" y="3840480"/>
            <a:ext cx="4572000" cy="1234440"/>
          </a:xfrm>
          <a:prstGeom prst="roundRect">
            <a:avLst/>
          </a:prstGeom>
          <a:solidFill>
            <a:srgbClr val="F8F5EE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90488" y="4041648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C2E54"/>
                </a:solidFill>
                <a:latin typeface="Microsoft YaHei"/>
              </a:rPr>
              <a:t>局部对，全局乱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0488" y="4498848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F6F8E"/>
                </a:solidFill>
                <a:latin typeface="Microsoft YaHei"/>
              </a:rPr>
              <a:t>能完成当前指令，但不会天然维护整份文档一致性。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" y="5440680"/>
            <a:ext cx="9784080" cy="384048"/>
          </a:xfrm>
          <a:prstGeom prst="roundRect">
            <a:avLst/>
          </a:prstGeom>
          <a:solidFill>
            <a:srgbClr val="0F2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25296" y="5550408"/>
            <a:ext cx="93268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共性不是 AI 不会写，而是它会先写出“更像好方案”的东西。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35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961120" y="-822960"/>
            <a:ext cx="4023360" cy="2560320"/>
          </a:xfrm>
          <a:prstGeom prst="ellipse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875520" y="-457200"/>
            <a:ext cx="2011680" cy="1280160"/>
          </a:xfrm>
          <a:prstGeom prst="ellipse">
            <a:avLst/>
          </a:prstGeom>
          <a:solidFill>
            <a:srgbClr val="EC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640080" y="5349240"/>
            <a:ext cx="2194560" cy="1371600"/>
          </a:xfrm>
          <a:prstGeom prst="ellipse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566928"/>
            <a:ext cx="1097280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566928"/>
            <a:ext cx="201168" cy="5440680"/>
          </a:xfrm>
          <a:prstGeom prst="roundRect">
            <a:avLst/>
          </a:prstGeom>
          <a:solidFill>
            <a:srgbClr val="35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87552" y="868680"/>
            <a:ext cx="1325880" cy="310896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941832"/>
            <a:ext cx="132588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356EFF"/>
                </a:solidFill>
                <a:latin typeface="Microsoft YaHei"/>
              </a:rPr>
              <a:t>CHAPTER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1353312"/>
            <a:ext cx="71323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C2E54"/>
                </a:solidFill>
                <a:latin typeface="Microsoft YaHei"/>
              </a:rPr>
              <a:t>成功案例：怎样用 AI 才真正有效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44200" y="6236208"/>
            <a:ext cx="105156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44200" y="6318504"/>
            <a:ext cx="105156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1C2E54"/>
                </a:solidFill>
                <a:latin typeface="Microsoft YaHei"/>
              </a:rPr>
              <a:t>10/14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103120"/>
            <a:ext cx="2468880" cy="278892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80160" y="246888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C2E54"/>
                </a:solidFill>
                <a:latin typeface="Microsoft YaHei"/>
              </a:rPr>
              <a:t>先记录，不分析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474720"/>
            <a:ext cx="1828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F6F8E"/>
                </a:solidFill>
                <a:latin typeface="Microsoft YaHei"/>
              </a:rPr>
              <a:t>把 AI 锁成记录员，避免过早脑补方案。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1" y="3310128"/>
            <a:ext cx="228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356EFF"/>
                </a:solidFill>
                <a:latin typeface="Microsoft YaHe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69080" y="2103120"/>
            <a:ext cx="2468880" cy="2788920"/>
          </a:xfrm>
          <a:prstGeom prst="roundRect">
            <a:avLst/>
          </a:prstGeom>
          <a:solidFill>
            <a:srgbClr val="F8F5EE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51960" y="246888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C2E54"/>
                </a:solidFill>
                <a:latin typeface="Microsoft YaHei"/>
              </a:rPr>
              <a:t>先三方对照，不直接改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3474720"/>
            <a:ext cx="1828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F6F8E"/>
                </a:solidFill>
                <a:latin typeface="Microsoft YaHei"/>
              </a:rPr>
              <a:t>原始需求、代码、PRD 一起核，先暴露差异。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3310128"/>
            <a:ext cx="228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356EFF"/>
                </a:solidFill>
                <a:latin typeface="Microsoft YaHe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0880" y="2103120"/>
            <a:ext cx="2468880" cy="278892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23760" y="246888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C2E54"/>
                </a:solidFill>
                <a:latin typeface="Microsoft YaHei"/>
              </a:rPr>
              <a:t>先讲改法，再动正式文档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3474720"/>
            <a:ext cx="1828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F6F8E"/>
                </a:solidFill>
                <a:latin typeface="Microsoft YaHei"/>
              </a:rPr>
              <a:t>先对齐修改策略，再落 PRD 和原型。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" y="5230368"/>
            <a:ext cx="9738360" cy="384048"/>
          </a:xfrm>
          <a:prstGeom prst="roundRect">
            <a:avLst/>
          </a:prstGeom>
          <a:solidFill>
            <a:srgbClr val="ECF8FF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298448" y="5349240"/>
            <a:ext cx="92354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C2E54"/>
                </a:solidFill>
                <a:latin typeface="Microsoft YaHei"/>
              </a:rPr>
              <a:t>关键不是提示词更花，而是协作顺序更对。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35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961120" y="-822960"/>
            <a:ext cx="4023360" cy="2560320"/>
          </a:xfrm>
          <a:prstGeom prst="ellipse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875520" y="-457200"/>
            <a:ext cx="2011680" cy="1280160"/>
          </a:xfrm>
          <a:prstGeom prst="ellipse">
            <a:avLst/>
          </a:prstGeom>
          <a:solidFill>
            <a:srgbClr val="EC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640080" y="5349240"/>
            <a:ext cx="2194560" cy="1371600"/>
          </a:xfrm>
          <a:prstGeom prst="ellipse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566928"/>
            <a:ext cx="1097280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566928"/>
            <a:ext cx="201168" cy="5440680"/>
          </a:xfrm>
          <a:prstGeom prst="roundRect">
            <a:avLst/>
          </a:prstGeom>
          <a:solidFill>
            <a:srgbClr val="35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87552" y="868680"/>
            <a:ext cx="1325880" cy="310896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941832"/>
            <a:ext cx="132588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356EFF"/>
                </a:solidFill>
                <a:latin typeface="Microsoft YaHei"/>
              </a:rPr>
              <a:t>CHAPTER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1353312"/>
            <a:ext cx="71323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C2E54"/>
                </a:solidFill>
                <a:latin typeface="Microsoft YaHei"/>
              </a:rPr>
              <a:t>成功案例：怎样用 AI 才真正有效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44200" y="6236208"/>
            <a:ext cx="105156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44200" y="6318504"/>
            <a:ext cx="105156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1C2E54"/>
                </a:solidFill>
                <a:latin typeface="Microsoft YaHei"/>
              </a:rPr>
              <a:t>11/14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1828800"/>
            <a:ext cx="3886200" cy="3611880"/>
          </a:xfrm>
          <a:prstGeom prst="roundRect">
            <a:avLst/>
          </a:prstGeom>
          <a:solidFill>
            <a:srgbClr val="0F2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61872" y="212140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把 AI 放在更稳的位置上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2670048"/>
            <a:ext cx="2926080" cy="21031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强约束范围，小步迭代</a:t>
            </a:r>
          </a:p>
          <a:p>
            <a:pPr>
              <a:spcAft>
                <a:spcPts val="7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原型与 PRD 联动时，把 AI 当“同步器”</a:t>
            </a:r>
          </a:p>
          <a:p>
            <a:pPr>
              <a:spcAft>
                <a:spcPts val="7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每轮都做范围复核，避免 AI 做多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30368" y="1828800"/>
            <a:ext cx="5577840" cy="361188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0" y="212140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C2E54"/>
                </a:solidFill>
                <a:latin typeface="Microsoft YaHei"/>
              </a:rPr>
              <a:t>这部分真正要传递的东西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2697480"/>
            <a:ext cx="50749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42432" y="2962656"/>
            <a:ext cx="4526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C2E54"/>
                </a:solidFill>
                <a:latin typeface="Microsoft YaHei"/>
              </a:rPr>
              <a:t>不是“提示词写得漂亮”，而是“人先定边界，AI 再高效执行”。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96128" y="3913632"/>
            <a:ext cx="4663440" cy="10972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C2E54"/>
                </a:solidFill>
                <a:latin typeface="Microsoft YaHei"/>
              </a:defRPr>
            </a:pPr>
            <a:r>
              <a:t>方向未定时，AI 更适合暴露问题，不适合直接拍板。</a:t>
            </a:r>
          </a:p>
          <a:p>
            <a:pPr>
              <a:spcAft>
                <a:spcPts val="700"/>
              </a:spcAft>
              <a:defRPr sz="1200">
                <a:solidFill>
                  <a:srgbClr val="1C2E54"/>
                </a:solidFill>
                <a:latin typeface="Microsoft YaHei"/>
              </a:defRPr>
            </a:pPr>
            <a:r>
              <a:t>口径已定后，AI 最适合做同步、回写和一致性维护。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67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961120" y="-822960"/>
            <a:ext cx="4023360" cy="2560320"/>
          </a:xfrm>
          <a:prstGeom prst="ellipse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875520" y="-457200"/>
            <a:ext cx="2011680" cy="1280160"/>
          </a:xfrm>
          <a:prstGeom prst="ellipse">
            <a:avLst/>
          </a:prstGeom>
          <a:solidFill>
            <a:srgbClr val="EC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640080" y="5349240"/>
            <a:ext cx="2194560" cy="1371600"/>
          </a:xfrm>
          <a:prstGeom prst="ellipse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566928"/>
            <a:ext cx="1097280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566928"/>
            <a:ext cx="201168" cy="5440680"/>
          </a:xfrm>
          <a:prstGeom prst="roundRect">
            <a:avLst/>
          </a:prstGeom>
          <a:solidFill>
            <a:srgbClr val="67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87552" y="868680"/>
            <a:ext cx="1325880" cy="310896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941832"/>
            <a:ext cx="132588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67BBFF"/>
                </a:solidFill>
                <a:latin typeface="Microsoft YaHei"/>
              </a:rPr>
              <a:t>CHAPTER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1353312"/>
            <a:ext cx="71323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C2E54"/>
                </a:solidFill>
                <a:latin typeface="Microsoft YaHei"/>
              </a:rPr>
              <a:t>协作指令模式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44200" y="6236208"/>
            <a:ext cx="105156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44200" y="6318504"/>
            <a:ext cx="105156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1C2E54"/>
                </a:solidFill>
                <a:latin typeface="Microsoft YaHei"/>
              </a:rPr>
              <a:t>12/14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1828800"/>
            <a:ext cx="4617720" cy="365760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99632" y="1828800"/>
            <a:ext cx="4608576" cy="3657600"/>
          </a:xfrm>
          <a:prstGeom prst="roundRect">
            <a:avLst/>
          </a:prstGeom>
          <a:solidFill>
            <a:srgbClr val="FFF2EF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43584" y="2084831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C2E54"/>
                </a:solidFill>
                <a:latin typeface="Microsoft YaHei"/>
              </a:rPr>
              <a:t>高价值说法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084831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C2E54"/>
                </a:solidFill>
                <a:latin typeface="Microsoft YaHei"/>
              </a:rPr>
              <a:t>容易带偏的说法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3584" y="2578608"/>
            <a:ext cx="4023360" cy="23317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C2E54"/>
                </a:solidFill>
                <a:latin typeface="Microsoft YaHei"/>
              </a:defRPr>
            </a:pPr>
            <a:r>
              <a:t>在我没有结束之前，你不用做任何分析，只接收和记录。</a:t>
            </a:r>
          </a:p>
          <a:p>
            <a:pPr>
              <a:spcAft>
                <a:spcPts val="700"/>
              </a:spcAft>
              <a:defRPr sz="1300">
                <a:solidFill>
                  <a:srgbClr val="1C2E54"/>
                </a:solidFill>
                <a:latin typeface="Microsoft YaHei"/>
              </a:defRPr>
            </a:pPr>
            <a:r>
              <a:t>结合代码和原始需求，对照 PRD 找问题。</a:t>
            </a:r>
          </a:p>
          <a:p>
            <a:pPr>
              <a:spcAft>
                <a:spcPts val="700"/>
              </a:spcAft>
              <a:defRPr sz="1300">
                <a:solidFill>
                  <a:srgbClr val="1C2E54"/>
                </a:solidFill>
                <a:latin typeface="Microsoft YaHei"/>
              </a:defRPr>
            </a:pPr>
            <a:r>
              <a:t>先不改，先告诉我你准备怎么改。</a:t>
            </a:r>
          </a:p>
          <a:p>
            <a:pPr>
              <a:spcAft>
                <a:spcPts val="700"/>
              </a:spcAft>
              <a:defRPr sz="1300">
                <a:solidFill>
                  <a:srgbClr val="1C2E54"/>
                </a:solidFill>
                <a:latin typeface="Microsoft YaHei"/>
              </a:defRPr>
            </a:pPr>
            <a:r>
              <a:t>手机端先不改，我们先改 PC 端，按照原型改。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578608"/>
            <a:ext cx="4023360" cy="23317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C2E54"/>
                </a:solidFill>
                <a:latin typeface="Microsoft YaHei"/>
              </a:defRPr>
            </a:pPr>
            <a:r>
              <a:t>你思考下有什么改进方案。</a:t>
            </a:r>
          </a:p>
          <a:p>
            <a:pPr>
              <a:spcAft>
                <a:spcPts val="700"/>
              </a:spcAft>
              <a:defRPr sz="1300">
                <a:solidFill>
                  <a:srgbClr val="1C2E54"/>
                </a:solidFill>
                <a:latin typeface="Microsoft YaHei"/>
              </a:defRPr>
            </a:pPr>
            <a:r>
              <a:t>你先把详情页原型改了，我看看效果。</a:t>
            </a:r>
          </a:p>
          <a:p>
            <a:pPr>
              <a:spcAft>
                <a:spcPts val="700"/>
              </a:spcAft>
              <a:defRPr sz="1300">
                <a:solidFill>
                  <a:srgbClr val="1C2E54"/>
                </a:solidFill>
                <a:latin typeface="Microsoft YaHei"/>
              </a:defRPr>
            </a:pPr>
            <a:r>
              <a:t>问题不在语气，而在边界和阶段不够清楚。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4128" y="5440680"/>
            <a:ext cx="9784080" cy="365760"/>
          </a:xfrm>
          <a:prstGeom prst="roundRect">
            <a:avLst/>
          </a:prstGeom>
          <a:solidFill>
            <a:srgbClr val="0F2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43584" y="5541264"/>
            <a:ext cx="92354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好指令的核心不是更复杂，而是边界更清楚、阶段更明确。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FB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961120" y="-822960"/>
            <a:ext cx="4023360" cy="2560320"/>
          </a:xfrm>
          <a:prstGeom prst="ellipse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875520" y="-457200"/>
            <a:ext cx="2011680" cy="1280160"/>
          </a:xfrm>
          <a:prstGeom prst="ellipse">
            <a:avLst/>
          </a:prstGeom>
          <a:solidFill>
            <a:srgbClr val="EC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640080" y="5349240"/>
            <a:ext cx="2194560" cy="1371600"/>
          </a:xfrm>
          <a:prstGeom prst="ellipse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566928"/>
            <a:ext cx="1097280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566928"/>
            <a:ext cx="201168" cy="5440680"/>
          </a:xfrm>
          <a:prstGeom prst="roundRect">
            <a:avLst/>
          </a:prstGeom>
          <a:solidFill>
            <a:srgbClr val="FFB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87552" y="868680"/>
            <a:ext cx="1325880" cy="310896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941832"/>
            <a:ext cx="132588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FBA49"/>
                </a:solidFill>
                <a:latin typeface="Microsoft YaHei"/>
              </a:rPr>
              <a:t>CHAPTER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1353312"/>
            <a:ext cx="71323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C2E54"/>
                </a:solidFill>
                <a:latin typeface="Microsoft YaHei"/>
              </a:rPr>
              <a:t>最后想传递的结论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44200" y="6236208"/>
            <a:ext cx="105156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44200" y="6318504"/>
            <a:ext cx="105156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1C2E54"/>
                </a:solidFill>
                <a:latin typeface="Microsoft YaHei"/>
              </a:rPr>
              <a:t>13/14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1828800"/>
            <a:ext cx="9784080" cy="841248"/>
          </a:xfrm>
          <a:prstGeom prst="roundRect">
            <a:avLst/>
          </a:prstGeom>
          <a:solidFill>
            <a:srgbClr val="0F2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98448" y="2084831"/>
            <a:ext cx="9235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AI 的价值，不在于替产品经理做产品，而在于帮你更快地整理、比对、同步和暴露问题。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3584" y="3246120"/>
            <a:ext cx="9052560" cy="1965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C2E54"/>
                </a:solidFill>
                <a:latin typeface="Microsoft YaHei"/>
              </a:defRPr>
            </a:pPr>
            <a:r>
              <a:t>AI 的提效是成立的，但这个提效有边界。</a:t>
            </a:r>
          </a:p>
          <a:p>
            <a:pPr>
              <a:spcAft>
                <a:spcPts val="700"/>
              </a:spcAft>
              <a:defRPr sz="1400">
                <a:solidFill>
                  <a:srgbClr val="1C2E54"/>
                </a:solidFill>
                <a:latin typeface="Microsoft YaHei"/>
              </a:defRPr>
            </a:pPr>
            <a:r>
              <a:t>真正决定产出质量的，仍然是产品经理有没有讲清边界、拍板规则、持续联动校正。</a:t>
            </a:r>
          </a:p>
          <a:p>
            <a:pPr>
              <a:spcAft>
                <a:spcPts val="700"/>
              </a:spcAft>
              <a:defRPr sz="1400">
                <a:solidFill>
                  <a:srgbClr val="1C2E54"/>
                </a:solidFill>
                <a:latin typeface="Microsoft YaHei"/>
              </a:defRPr>
            </a:pPr>
            <a:r>
              <a:t>AI 节省的是整理、核查、同步和回写时间，不替代业务判断。</a:t>
            </a:r>
          </a:p>
          <a:p>
            <a:pPr>
              <a:spcAft>
                <a:spcPts val="700"/>
              </a:spcAft>
              <a:defRPr sz="1400">
                <a:solidFill>
                  <a:srgbClr val="1C2E54"/>
                </a:solidFill>
                <a:latin typeface="Microsoft YaHei"/>
              </a:defRPr>
            </a:pPr>
            <a:r>
              <a:t>最值得沉淀的不是一组提示词，而是一套适用于存量功能迭代的协作方法。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503920" y="-457200"/>
            <a:ext cx="3657600" cy="2194560"/>
          </a:xfrm>
          <a:prstGeom prst="ellipse">
            <a:avLst/>
          </a:prstGeom>
          <a:solidFill>
            <a:srgbClr val="35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548640" y="5212080"/>
            <a:ext cx="2834640" cy="1737360"/>
          </a:xfrm>
          <a:prstGeom prst="ellipse">
            <a:avLst/>
          </a:prstGeom>
          <a:solidFill>
            <a:srgbClr val="21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68680" y="914400"/>
            <a:ext cx="10424160" cy="4983480"/>
          </a:xfrm>
          <a:prstGeom prst="roundRect">
            <a:avLst/>
          </a:prstGeom>
          <a:solidFill>
            <a:srgbClr val="172D5C"/>
          </a:solidFill>
          <a:ln w="12700">
            <a:solidFill>
              <a:srgbClr val="41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234440" y="1261872"/>
            <a:ext cx="91440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1335024"/>
            <a:ext cx="9144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356EFF"/>
                </a:solidFill>
                <a:latin typeface="Microsoft YaHei"/>
              </a:rPr>
              <a:t>ENDING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1993392"/>
            <a:ext cx="896112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在原有功能迭代项目里，
AI 不是替代产品经理的设计者，
而是放大产品经理能力的协作工具。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4315968"/>
            <a:ext cx="7680960" cy="11430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67BBFF"/>
                </a:solidFill>
                <a:latin typeface="Microsoft YaHei"/>
              </a:defRPr>
            </a:pPr>
            <a:r>
              <a:t>先定边界，再让 AI 展开</a:t>
            </a:r>
          </a:p>
          <a:p>
            <a:pPr>
              <a:spcAft>
                <a:spcPts val="700"/>
              </a:spcAft>
              <a:defRPr sz="1400">
                <a:solidFill>
                  <a:srgbClr val="67BBFF"/>
                </a:solidFill>
                <a:latin typeface="Microsoft YaHei"/>
              </a:defRPr>
            </a:pPr>
            <a:r>
              <a:t>先对照现实，再让 AI 输出</a:t>
            </a:r>
          </a:p>
          <a:p>
            <a:pPr>
              <a:spcAft>
                <a:spcPts val="700"/>
              </a:spcAft>
              <a:defRPr sz="1400">
                <a:solidFill>
                  <a:srgbClr val="67BBFF"/>
                </a:solidFill>
                <a:latin typeface="Microsoft YaHei"/>
              </a:defRPr>
            </a:pPr>
            <a:r>
              <a:t>先拍板口径，再让 AI 同步</a:t>
            </a:r>
          </a:p>
          <a:p>
            <a:pPr>
              <a:spcAft>
                <a:spcPts val="700"/>
              </a:spcAft>
              <a:defRPr sz="1400">
                <a:solidFill>
                  <a:srgbClr val="67BBFF"/>
                </a:solidFill>
                <a:latin typeface="Microsoft YaHei"/>
              </a:defRPr>
            </a:pPr>
            <a:r>
              <a:t>先控制范围，再让 AI 提效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08592" y="50749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谢谢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44200" y="6236208"/>
            <a:ext cx="105156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744200" y="6318504"/>
            <a:ext cx="105156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1C2E54"/>
                </a:solidFill>
                <a:latin typeface="Microsoft YaHei"/>
              </a:rPr>
              <a:t>14/14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离子会议室">
  <a:themeElements>
    <a:clrScheme name="离子会议室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离子会议室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离子会议室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</TotalTime>
  <Words>630</Words>
  <Application>Microsoft Office PowerPoint</Application>
  <PresentationFormat>宽屏</PresentationFormat>
  <Paragraphs>192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9" baseType="lpstr">
      <vt:lpstr>Microsoft YaHei</vt:lpstr>
      <vt:lpstr>Arial</vt:lpstr>
      <vt:lpstr>Century Gothic</vt:lpstr>
      <vt:lpstr>Wingdings 3</vt:lpstr>
      <vt:lpstr>离子会议室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Beibei Zhang</cp:lastModifiedBy>
  <cp:revision>2</cp:revision>
  <dcterms:created xsi:type="dcterms:W3CDTF">2013-01-27T09:14:16Z</dcterms:created>
  <dcterms:modified xsi:type="dcterms:W3CDTF">2026-05-21T07:49:49Z</dcterms:modified>
  <cp:category/>
</cp:coreProperties>
</file>