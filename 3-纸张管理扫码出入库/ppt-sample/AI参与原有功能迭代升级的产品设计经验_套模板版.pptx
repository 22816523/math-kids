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4" pos="529">
          <p15:clr>
            <a:srgbClr val="A4A3A4"/>
          </p15:clr>
        </p15:guide>
        <p15:guide id="15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843" y="1176"/>
      </p:cViewPr>
      <p:guideLst>
        <p:guide pos="529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331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AAE65F2-8595-038D-3B75-A66253C3C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DD48DE-B2CD-6089-466B-BCBA9C149E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4" name="爱设计-1">
            <a:extLst>
              <a:ext uri="{FF2B5EF4-FFF2-40B4-BE49-F238E27FC236}">
                <a16:creationId xmlns:a16="http://schemas.microsoft.com/office/drawing/2014/main" id="{499646A7-8B1E-454E-81D5-6FE2DE0579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0320" y="-297"/>
            <a:ext cx="12212320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9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5730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7F8FA"/>
            </a:gs>
            <a:gs pos="25000">
              <a:srgbClr val="F7F8FA"/>
            </a:gs>
            <a:gs pos="75000">
              <a:srgbClr val="F7F8FA"/>
            </a:gs>
            <a:gs pos="50000">
              <a:schemeClr val="bg1">
                <a:alpha val="0"/>
              </a:schemeClr>
            </a:gs>
            <a:gs pos="100000">
              <a:srgbClr val="F7F8FA">
                <a:alpha val="73725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47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爱设计-1">
            <a:extLst>
              <a:ext uri="{FF2B5EF4-FFF2-40B4-BE49-F238E27FC236}">
                <a16:creationId xmlns:a16="http://schemas.microsoft.com/office/drawing/2014/main" id="{69BDB890-05E4-AAC3-EA00-B02104C8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61" name="爱设计-2">
            <a:extLst>
              <a:ext uri="{FF2B5EF4-FFF2-40B4-BE49-F238E27FC236}">
                <a16:creationId xmlns:a16="http://schemas.microsoft.com/office/drawing/2014/main" id="{83A74EAF-E1FD-8CCC-20C6-4219D06D4DA1}"/>
              </a:ext>
            </a:extLst>
          </p:cNvPr>
          <p:cNvGrpSpPr/>
          <p:nvPr/>
        </p:nvGrpSpPr>
        <p:grpSpPr>
          <a:xfrm>
            <a:off x="0" y="752353"/>
            <a:ext cx="12557108" cy="6105647"/>
            <a:chOff x="-1" y="752353"/>
            <a:chExt cx="12557108" cy="6105647"/>
          </a:xfrm>
        </p:grpSpPr>
        <p:pic>
          <p:nvPicPr>
            <p:cNvPr id="5" name="爱设计-2-1">
              <a:extLst>
                <a:ext uri="{FF2B5EF4-FFF2-40B4-BE49-F238E27FC236}">
                  <a16:creationId xmlns:a16="http://schemas.microsoft.com/office/drawing/2014/main" id="{B273C463-F06A-C115-7EF9-ADB6E27EE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56" y="752353"/>
              <a:ext cx="6506751" cy="5983723"/>
            </a:xfrm>
            <a:prstGeom prst="rect">
              <a:avLst/>
            </a:prstGeom>
          </p:spPr>
        </p:pic>
        <p:pic>
          <p:nvPicPr>
            <p:cNvPr id="11" name="爱设计-2-2">
              <a:extLst>
                <a:ext uri="{FF2B5EF4-FFF2-40B4-BE49-F238E27FC236}">
                  <a16:creationId xmlns:a16="http://schemas.microsoft.com/office/drawing/2014/main" id="{A4AEBEE3-E0E6-2D1A-CAD3-9C02EA1F1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" y="4097438"/>
              <a:ext cx="5197671" cy="2760562"/>
            </a:xfrm>
            <a:prstGeom prst="rect">
              <a:avLst/>
            </a:prstGeom>
          </p:spPr>
        </p:pic>
      </p:grpSp>
      <p:grpSp>
        <p:nvGrpSpPr>
          <p:cNvPr id="26" name="爱设计-3">
            <a:extLst>
              <a:ext uri="{FF2B5EF4-FFF2-40B4-BE49-F238E27FC236}">
                <a16:creationId xmlns:a16="http://schemas.microsoft.com/office/drawing/2014/main" id="{EFC014F0-E6AF-994A-F981-9F5650839E8E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24" name="爱设计-3-1">
              <a:extLst>
                <a:ext uri="{FF2B5EF4-FFF2-40B4-BE49-F238E27FC236}">
                  <a16:creationId xmlns:a16="http://schemas.microsoft.com/office/drawing/2014/main" id="{C8985849-A779-8FEB-C673-CC800C35B261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爱设计-3-2">
              <a:extLst>
                <a:ext uri="{FF2B5EF4-FFF2-40B4-BE49-F238E27FC236}">
                  <a16:creationId xmlns:a16="http://schemas.microsoft.com/office/drawing/2014/main" id="{0CC030AC-1E05-588E-D30C-9C566324A50C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爱设计-4">
            <a:extLst>
              <a:ext uri="{FF2B5EF4-FFF2-40B4-BE49-F238E27FC236}">
                <a16:creationId xmlns:a16="http://schemas.microsoft.com/office/drawing/2014/main" id="{5E31CAFF-BFFD-2EE6-B710-90591FC5BE79}"/>
              </a:ext>
            </a:extLst>
          </p:cNvPr>
          <p:cNvGrpSpPr/>
          <p:nvPr/>
        </p:nvGrpSpPr>
        <p:grpSpPr>
          <a:xfrm>
            <a:off x="576092" y="520185"/>
            <a:ext cx="10914614" cy="452688"/>
            <a:chOff x="576092" y="635935"/>
            <a:chExt cx="10914614" cy="452688"/>
          </a:xfrm>
        </p:grpSpPr>
        <p:sp>
          <p:nvSpPr>
            <p:cNvPr id="46" name="爱设计-4-1">
              <a:extLst>
                <a:ext uri="{FF2B5EF4-FFF2-40B4-BE49-F238E27FC236}">
                  <a16:creationId xmlns:a16="http://schemas.microsoft.com/office/drawing/2014/main" id="{B1F6D822-D413-DAD0-BD43-BE7071A359BD}"/>
                </a:ext>
              </a:extLst>
            </p:cNvPr>
            <p:cNvSpPr txBox="1">
              <a:spLocks/>
            </p:cNvSpPr>
            <p:nvPr/>
          </p:nvSpPr>
          <p:spPr>
            <a:xfrm>
              <a:off x="576092" y="635935"/>
              <a:ext cx="3706507" cy="4526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589" indent="-228589" algn="l" defTabSz="91435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76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4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20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298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474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54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Pellentesque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Habitant Morbi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Tristique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Senectus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Netus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Malesuada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Fames Ac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Turpis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Egestas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. </a:t>
              </a:r>
            </a:p>
          </p:txBody>
        </p:sp>
        <p:grpSp>
          <p:nvGrpSpPr>
            <p:cNvPr id="47" name="爱设计-9">
              <a:extLst>
                <a:ext uri="{FF2B5EF4-FFF2-40B4-BE49-F238E27FC236}">
                  <a16:creationId xmlns:a16="http://schemas.microsoft.com/office/drawing/2014/main" id="{049D0B45-0600-35D0-1CCE-26005F2E0A49}"/>
                </a:ext>
              </a:extLst>
            </p:cNvPr>
            <p:cNvGrpSpPr/>
            <p:nvPr/>
          </p:nvGrpSpPr>
          <p:grpSpPr>
            <a:xfrm>
              <a:off x="11267027" y="705435"/>
              <a:ext cx="223679" cy="143861"/>
              <a:chOff x="10749120" y="871596"/>
              <a:chExt cx="223679" cy="143861"/>
            </a:xfrm>
          </p:grpSpPr>
          <p:cxnSp>
            <p:nvCxnSpPr>
              <p:cNvPr id="48" name="爱设计-4-2">
                <a:extLst>
                  <a:ext uri="{FF2B5EF4-FFF2-40B4-BE49-F238E27FC236}">
                    <a16:creationId xmlns:a16="http://schemas.microsoft.com/office/drawing/2014/main" id="{6C6896D2-25F8-3B65-D2A6-CA618522F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101545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49" name="爱设计-4-3">
                <a:extLst>
                  <a:ext uri="{FF2B5EF4-FFF2-40B4-BE49-F238E27FC236}">
                    <a16:creationId xmlns:a16="http://schemas.microsoft.com/office/drawing/2014/main" id="{C31B755B-296D-F774-7A3D-1A64E634D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94352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accent1"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50" name="爱设计-4-4">
                <a:extLst>
                  <a:ext uri="{FF2B5EF4-FFF2-40B4-BE49-F238E27FC236}">
                    <a16:creationId xmlns:a16="http://schemas.microsoft.com/office/drawing/2014/main" id="{9F783300-EC82-D417-4974-39F5693CD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871596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</p:grpSp>
      </p:grpSp>
      <p:sp>
        <p:nvSpPr>
          <p:cNvPr id="37" name="爱设计-5">
            <a:extLst>
              <a:ext uri="{FF2B5EF4-FFF2-40B4-BE49-F238E27FC236}">
                <a16:creationId xmlns:a16="http://schemas.microsoft.com/office/drawing/2014/main" id="{B9A81D67-BD34-F0E8-D58E-5855E7FCB08C}"/>
              </a:ext>
            </a:extLst>
          </p:cNvPr>
          <p:cNvSpPr txBox="1">
            <a:spLocks/>
          </p:cNvSpPr>
          <p:nvPr/>
        </p:nvSpPr>
        <p:spPr>
          <a:xfrm>
            <a:off x="571012" y="1894687"/>
            <a:ext cx="6419068" cy="210519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t>AI参与原有功能迭代升级</a:t>
            </a:r>
          </a:p>
          <a:p>
            <a:r>
              <a:t>产品设计经验分享</a:t>
            </a:r>
          </a:p>
        </p:txBody>
      </p:sp>
      <p:grpSp>
        <p:nvGrpSpPr>
          <p:cNvPr id="22" name="爱设计-6">
            <a:extLst>
              <a:ext uri="{FF2B5EF4-FFF2-40B4-BE49-F238E27FC236}">
                <a16:creationId xmlns:a16="http://schemas.microsoft.com/office/drawing/2014/main" id="{86AF6A5C-6B3B-7F1C-53C6-D1F6C226AB5A}"/>
              </a:ext>
            </a:extLst>
          </p:cNvPr>
          <p:cNvGrpSpPr/>
          <p:nvPr/>
        </p:nvGrpSpPr>
        <p:grpSpPr>
          <a:xfrm>
            <a:off x="608350" y="4590634"/>
            <a:ext cx="1853418" cy="504130"/>
            <a:chOff x="625666" y="3665240"/>
            <a:chExt cx="1989813" cy="614018"/>
          </a:xfrm>
        </p:grpSpPr>
        <p:pic>
          <p:nvPicPr>
            <p:cNvPr id="14" name="爱设计-6-1">
              <a:extLst>
                <a:ext uri="{FF2B5EF4-FFF2-40B4-BE49-F238E27FC236}">
                  <a16:creationId xmlns:a16="http://schemas.microsoft.com/office/drawing/2014/main" id="{AAD6F6E7-96C3-10CB-18D7-750AF3B03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18" name="爱设计-6-2">
              <a:extLst>
                <a:ext uri="{FF2B5EF4-FFF2-40B4-BE49-F238E27FC236}">
                  <a16:creationId xmlns:a16="http://schemas.microsoft.com/office/drawing/2014/main" id="{608AC001-856C-EF4E-5F73-626E6E6BB2BC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汇报人： 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ISHEJI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38" name="爱设计-7">
            <a:extLst>
              <a:ext uri="{FF2B5EF4-FFF2-40B4-BE49-F238E27FC236}">
                <a16:creationId xmlns:a16="http://schemas.microsoft.com/office/drawing/2014/main" id="{5EB53F5A-4FC3-F9D3-C5D5-588DB6DC7C98}"/>
              </a:ext>
            </a:extLst>
          </p:cNvPr>
          <p:cNvSpPr txBox="1">
            <a:spLocks/>
          </p:cNvSpPr>
          <p:nvPr/>
        </p:nvSpPr>
        <p:spPr>
          <a:xfrm>
            <a:off x="566964" y="4158772"/>
            <a:ext cx="4630707" cy="287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AI-ENABLED PRODUCT ITERATION</a:t>
            </a:r>
          </a:p>
        </p:txBody>
      </p:sp>
      <p:cxnSp>
        <p:nvCxnSpPr>
          <p:cNvPr id="39" name="爱设计-8">
            <a:extLst>
              <a:ext uri="{FF2B5EF4-FFF2-40B4-BE49-F238E27FC236}">
                <a16:creationId xmlns:a16="http://schemas.microsoft.com/office/drawing/2014/main" id="{F8E08C62-E408-7086-C2E3-F77147935619}"/>
              </a:ext>
            </a:extLst>
          </p:cNvPr>
          <p:cNvCxnSpPr/>
          <p:nvPr/>
        </p:nvCxnSpPr>
        <p:spPr>
          <a:xfrm>
            <a:off x="651022" y="3969454"/>
            <a:ext cx="4826421" cy="0"/>
          </a:xfrm>
          <a:prstGeom prst="line">
            <a:avLst/>
          </a:prstGeom>
          <a:ln w="571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爱设计-9">
            <a:extLst>
              <a:ext uri="{FF2B5EF4-FFF2-40B4-BE49-F238E27FC236}">
                <a16:creationId xmlns:a16="http://schemas.microsoft.com/office/drawing/2014/main" id="{AFAEEAFD-5DF3-92FA-627D-A61B60928C97}"/>
              </a:ext>
            </a:extLst>
          </p:cNvPr>
          <p:cNvGrpSpPr/>
          <p:nvPr/>
        </p:nvGrpSpPr>
        <p:grpSpPr>
          <a:xfrm>
            <a:off x="2614037" y="4590634"/>
            <a:ext cx="1853418" cy="504130"/>
            <a:chOff x="625666" y="3665240"/>
            <a:chExt cx="1989813" cy="614018"/>
          </a:xfrm>
        </p:grpSpPr>
        <p:pic>
          <p:nvPicPr>
            <p:cNvPr id="63" name="爱设计-9-1">
              <a:extLst>
                <a:ext uri="{FF2B5EF4-FFF2-40B4-BE49-F238E27FC236}">
                  <a16:creationId xmlns:a16="http://schemas.microsoft.com/office/drawing/2014/main" id="{5876B847-E0A5-CC8E-E63F-06598A7C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64" name="爱设计-9-2">
              <a:extLst>
                <a:ext uri="{FF2B5EF4-FFF2-40B4-BE49-F238E27FC236}">
                  <a16:creationId xmlns:a16="http://schemas.microsoft.com/office/drawing/2014/main" id="{EF16E2B4-BBB9-6804-DCD1-160B96D9FB97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时间：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202X.1.1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69" name="爱设计-10">
            <a:extLst>
              <a:ext uri="{FF2B5EF4-FFF2-40B4-BE49-F238E27FC236}">
                <a16:creationId xmlns:a16="http://schemas.microsoft.com/office/drawing/2014/main" id="{3CACE4AD-5688-5D5B-C58A-23B6EFE45922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Paper management scan in/out inventory project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爱设计-1">
            <a:extLst>
              <a:ext uri="{FF2B5EF4-FFF2-40B4-BE49-F238E27FC236}">
                <a16:creationId xmlns:a16="http://schemas.microsoft.com/office/drawing/2014/main" id="{61A787E6-3293-2550-6E80-27AF77A67B4E}"/>
              </a:ext>
            </a:extLst>
          </p:cNvPr>
          <p:cNvSpPr txBox="1"/>
          <p:nvPr/>
        </p:nvSpPr>
        <p:spPr>
          <a:xfrm>
            <a:off x="1040770" y="866645"/>
            <a:ext cx="10110460" cy="2077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CONTENTS</a:t>
            </a:r>
          </a:p>
        </p:txBody>
      </p:sp>
      <p:sp>
        <p:nvSpPr>
          <p:cNvPr id="5" name="爱设计-2">
            <a:extLst>
              <a:ext uri="{FF2B5EF4-FFF2-40B4-BE49-F238E27FC236}">
                <a16:creationId xmlns:a16="http://schemas.microsoft.com/office/drawing/2014/main" id="{AFE31AAB-C3F3-E720-BED5-DA37294E27B6}"/>
              </a:ext>
            </a:extLst>
          </p:cNvPr>
          <p:cNvSpPr txBox="1"/>
          <p:nvPr/>
        </p:nvSpPr>
        <p:spPr>
          <a:xfrm>
            <a:off x="2327977" y="1402295"/>
            <a:ext cx="75360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目录-CONTENTS</a:t>
            </a:r>
          </a:p>
        </p:txBody>
      </p:sp>
      <p:grpSp>
        <p:nvGrpSpPr>
          <p:cNvPr id="6" name="爱设计-3">
            <a:extLst>
              <a:ext uri="{FF2B5EF4-FFF2-40B4-BE49-F238E27FC236}">
                <a16:creationId xmlns:a16="http://schemas.microsoft.com/office/drawing/2014/main" id="{A05A63CC-8A2C-D93A-A202-8E36747D42E7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7" name="爱设计-3-1">
              <a:extLst>
                <a:ext uri="{FF2B5EF4-FFF2-40B4-BE49-F238E27FC236}">
                  <a16:creationId xmlns:a16="http://schemas.microsoft.com/office/drawing/2014/main" id="{4001D2E9-EC05-6837-F7DD-277029B35893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" name="爱设计-3-2">
              <a:extLst>
                <a:ext uri="{FF2B5EF4-FFF2-40B4-BE49-F238E27FC236}">
                  <a16:creationId xmlns:a16="http://schemas.microsoft.com/office/drawing/2014/main" id="{264A9289-FC6F-0199-E5A2-5496F3FE0708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0" name="爱设计-4">
            <a:extLst>
              <a:ext uri="{FF2B5EF4-FFF2-40B4-BE49-F238E27FC236}">
                <a16:creationId xmlns:a16="http://schemas.microsoft.com/office/drawing/2014/main" id="{77E8AB79-2CD9-39C0-60B4-24E2F275F55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8" name="爱设计-5">
            <a:extLst>
              <a:ext uri="{FF2B5EF4-FFF2-40B4-BE49-F238E27FC236}">
                <a16:creationId xmlns:a16="http://schemas.microsoft.com/office/drawing/2014/main" id="{13B59A59-3650-0798-9676-6C07583F4EB1}"/>
              </a:ext>
            </a:extLst>
          </p:cNvPr>
          <p:cNvSpPr/>
          <p:nvPr/>
        </p:nvSpPr>
        <p:spPr>
          <a:xfrm>
            <a:off x="1416959" y="2858509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9" name="爱设计-6">
            <a:extLst>
              <a:ext uri="{FF2B5EF4-FFF2-40B4-BE49-F238E27FC236}">
                <a16:creationId xmlns:a16="http://schemas.microsoft.com/office/drawing/2014/main" id="{95294A28-591F-6A04-F169-ACBD6A75081A}"/>
              </a:ext>
            </a:extLst>
          </p:cNvPr>
          <p:cNvSpPr txBox="1"/>
          <p:nvPr/>
        </p:nvSpPr>
        <p:spPr>
          <a:xfrm>
            <a:off x="1646894" y="3069324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为什么讲这个项目</a:t>
            </a:r>
          </a:p>
        </p:txBody>
      </p:sp>
      <p:sp>
        <p:nvSpPr>
          <p:cNvPr id="20" name="爱设计-7">
            <a:extLst>
              <a:ext uri="{FF2B5EF4-FFF2-40B4-BE49-F238E27FC236}">
                <a16:creationId xmlns:a16="http://schemas.microsoft.com/office/drawing/2014/main" id="{238307E1-8C41-345D-38F1-05E853A75DD7}"/>
              </a:ext>
            </a:extLst>
          </p:cNvPr>
          <p:cNvSpPr/>
          <p:nvPr/>
        </p:nvSpPr>
        <p:spPr>
          <a:xfrm>
            <a:off x="1646894" y="3471634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t>Why This Project</a:t>
            </a:r>
          </a:p>
        </p:txBody>
      </p:sp>
      <p:sp>
        <p:nvSpPr>
          <p:cNvPr id="21" name="爱设计-8">
            <a:extLst>
              <a:ext uri="{FF2B5EF4-FFF2-40B4-BE49-F238E27FC236}">
                <a16:creationId xmlns:a16="http://schemas.microsoft.com/office/drawing/2014/main" id="{D2DE1819-63D6-3D13-7598-BB18858B0C28}"/>
              </a:ext>
            </a:extLst>
          </p:cNvPr>
          <p:cNvSpPr/>
          <p:nvPr/>
        </p:nvSpPr>
        <p:spPr>
          <a:xfrm>
            <a:off x="4162283" y="3084610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2" name="爱设计-9">
            <a:extLst>
              <a:ext uri="{FF2B5EF4-FFF2-40B4-BE49-F238E27FC236}">
                <a16:creationId xmlns:a16="http://schemas.microsoft.com/office/drawing/2014/main" id="{C26A807C-BBAA-919C-576A-66CAAE81BCD0}"/>
              </a:ext>
            </a:extLst>
          </p:cNvPr>
          <p:cNvSpPr txBox="1"/>
          <p:nvPr/>
        </p:nvSpPr>
        <p:spPr>
          <a:xfrm>
            <a:off x="4582761" y="3270069"/>
            <a:ext cx="734496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t>01</a:t>
            </a:r>
          </a:p>
        </p:txBody>
      </p:sp>
      <p:sp>
        <p:nvSpPr>
          <p:cNvPr id="30" name="爱设计-10">
            <a:extLst>
              <a:ext uri="{FF2B5EF4-FFF2-40B4-BE49-F238E27FC236}">
                <a16:creationId xmlns:a16="http://schemas.microsoft.com/office/drawing/2014/main" id="{37BC05A8-5D04-93E8-357B-6C89C0957082}"/>
              </a:ext>
            </a:extLst>
          </p:cNvPr>
          <p:cNvSpPr/>
          <p:nvPr/>
        </p:nvSpPr>
        <p:spPr>
          <a:xfrm>
            <a:off x="1416959" y="4586540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31" name="爱设计-11">
            <a:extLst>
              <a:ext uri="{FF2B5EF4-FFF2-40B4-BE49-F238E27FC236}">
                <a16:creationId xmlns:a16="http://schemas.microsoft.com/office/drawing/2014/main" id="{FC69F999-4C28-1120-921B-2FD8959D26F2}"/>
              </a:ext>
            </a:extLst>
          </p:cNvPr>
          <p:cNvSpPr txBox="1"/>
          <p:nvPr/>
        </p:nvSpPr>
        <p:spPr>
          <a:xfrm>
            <a:off x="1646894" y="4797355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踩坑案例与成功案例</a:t>
            </a:r>
          </a:p>
        </p:txBody>
      </p:sp>
      <p:sp>
        <p:nvSpPr>
          <p:cNvPr id="32" name="爱设计-12">
            <a:extLst>
              <a:ext uri="{FF2B5EF4-FFF2-40B4-BE49-F238E27FC236}">
                <a16:creationId xmlns:a16="http://schemas.microsoft.com/office/drawing/2014/main" id="{68A5A92B-70C0-7BF9-ADD3-7AB356C0D6C1}"/>
              </a:ext>
            </a:extLst>
          </p:cNvPr>
          <p:cNvSpPr/>
          <p:nvPr/>
        </p:nvSpPr>
        <p:spPr>
          <a:xfrm>
            <a:off x="1646894" y="5199665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t>Pitfalls And Effective Practices</a:t>
            </a:r>
          </a:p>
        </p:txBody>
      </p:sp>
      <p:sp>
        <p:nvSpPr>
          <p:cNvPr id="33" name="爱设计-13">
            <a:extLst>
              <a:ext uri="{FF2B5EF4-FFF2-40B4-BE49-F238E27FC236}">
                <a16:creationId xmlns:a16="http://schemas.microsoft.com/office/drawing/2014/main" id="{C7F7986B-8A2E-AC28-BC26-C7D52942A2A5}"/>
              </a:ext>
            </a:extLst>
          </p:cNvPr>
          <p:cNvSpPr/>
          <p:nvPr/>
        </p:nvSpPr>
        <p:spPr>
          <a:xfrm>
            <a:off x="4162283" y="4812641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34" name="爱设计-14">
            <a:extLst>
              <a:ext uri="{FF2B5EF4-FFF2-40B4-BE49-F238E27FC236}">
                <a16:creationId xmlns:a16="http://schemas.microsoft.com/office/drawing/2014/main" id="{1936F578-C536-1523-2D3F-29A753C7D65C}"/>
              </a:ext>
            </a:extLst>
          </p:cNvPr>
          <p:cNvSpPr txBox="1"/>
          <p:nvPr/>
        </p:nvSpPr>
        <p:spPr>
          <a:xfrm>
            <a:off x="4582761" y="4998100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t>03</a:t>
            </a:r>
          </a:p>
        </p:txBody>
      </p:sp>
      <p:sp>
        <p:nvSpPr>
          <p:cNvPr id="24" name="爱设计-15">
            <a:extLst>
              <a:ext uri="{FF2B5EF4-FFF2-40B4-BE49-F238E27FC236}">
                <a16:creationId xmlns:a16="http://schemas.microsoft.com/office/drawing/2014/main" id="{2596F71A-4700-F7F6-89ED-885C4405C75A}"/>
              </a:ext>
            </a:extLst>
          </p:cNvPr>
          <p:cNvSpPr/>
          <p:nvPr/>
        </p:nvSpPr>
        <p:spPr>
          <a:xfrm>
            <a:off x="6734318" y="2858509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5" name="爱设计-16">
            <a:extLst>
              <a:ext uri="{FF2B5EF4-FFF2-40B4-BE49-F238E27FC236}">
                <a16:creationId xmlns:a16="http://schemas.microsoft.com/office/drawing/2014/main" id="{BD415000-1740-BF5C-3ABD-AE2C583E1D1B}"/>
              </a:ext>
            </a:extLst>
          </p:cNvPr>
          <p:cNvSpPr txBox="1"/>
          <p:nvPr/>
        </p:nvSpPr>
        <p:spPr>
          <a:xfrm>
            <a:off x="6964253" y="3069324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AI是怎么介入的，价值体现在哪</a:t>
            </a:r>
          </a:p>
        </p:txBody>
      </p:sp>
      <p:sp>
        <p:nvSpPr>
          <p:cNvPr id="26" name="爱设计-17">
            <a:extLst>
              <a:ext uri="{FF2B5EF4-FFF2-40B4-BE49-F238E27FC236}">
                <a16:creationId xmlns:a16="http://schemas.microsoft.com/office/drawing/2014/main" id="{87A9B1A4-ED59-FA7F-962B-1352A0472012}"/>
              </a:ext>
            </a:extLst>
          </p:cNvPr>
          <p:cNvSpPr/>
          <p:nvPr/>
        </p:nvSpPr>
        <p:spPr>
          <a:xfrm>
            <a:off x="6964253" y="3471634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t>How AI Added Value</a:t>
            </a:r>
          </a:p>
        </p:txBody>
      </p:sp>
      <p:sp>
        <p:nvSpPr>
          <p:cNvPr id="27" name="爱设计-18">
            <a:extLst>
              <a:ext uri="{FF2B5EF4-FFF2-40B4-BE49-F238E27FC236}">
                <a16:creationId xmlns:a16="http://schemas.microsoft.com/office/drawing/2014/main" id="{5F031D8E-AEC0-DF90-98E5-879D943DBCB8}"/>
              </a:ext>
            </a:extLst>
          </p:cNvPr>
          <p:cNvSpPr/>
          <p:nvPr/>
        </p:nvSpPr>
        <p:spPr>
          <a:xfrm>
            <a:off x="9479642" y="3084610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8" name="爱设计-19">
            <a:extLst>
              <a:ext uri="{FF2B5EF4-FFF2-40B4-BE49-F238E27FC236}">
                <a16:creationId xmlns:a16="http://schemas.microsoft.com/office/drawing/2014/main" id="{8457D5E1-6A2D-6437-6BD8-69C7FC77555A}"/>
              </a:ext>
            </a:extLst>
          </p:cNvPr>
          <p:cNvSpPr txBox="1"/>
          <p:nvPr/>
        </p:nvSpPr>
        <p:spPr>
          <a:xfrm>
            <a:off x="9900120" y="3270069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t>02</a:t>
            </a:r>
          </a:p>
        </p:txBody>
      </p:sp>
      <p:sp>
        <p:nvSpPr>
          <p:cNvPr id="36" name="爱设计-20">
            <a:extLst>
              <a:ext uri="{FF2B5EF4-FFF2-40B4-BE49-F238E27FC236}">
                <a16:creationId xmlns:a16="http://schemas.microsoft.com/office/drawing/2014/main" id="{A13628B7-3E65-B9CC-106B-8CB258F8BE51}"/>
              </a:ext>
            </a:extLst>
          </p:cNvPr>
          <p:cNvSpPr/>
          <p:nvPr/>
        </p:nvSpPr>
        <p:spPr>
          <a:xfrm>
            <a:off x="6734318" y="4586540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37" name="爱设计-21">
            <a:extLst>
              <a:ext uri="{FF2B5EF4-FFF2-40B4-BE49-F238E27FC236}">
                <a16:creationId xmlns:a16="http://schemas.microsoft.com/office/drawing/2014/main" id="{8FC8FBD3-8F08-7919-A32C-19CF1C4ED00C}"/>
              </a:ext>
            </a:extLst>
          </p:cNvPr>
          <p:cNvSpPr txBox="1"/>
          <p:nvPr/>
        </p:nvSpPr>
        <p:spPr>
          <a:xfrm>
            <a:off x="6964253" y="4797355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协作指令模式与最终结论</a:t>
            </a:r>
          </a:p>
        </p:txBody>
      </p:sp>
      <p:sp>
        <p:nvSpPr>
          <p:cNvPr id="38" name="爱设计-22">
            <a:extLst>
              <a:ext uri="{FF2B5EF4-FFF2-40B4-BE49-F238E27FC236}">
                <a16:creationId xmlns:a16="http://schemas.microsoft.com/office/drawing/2014/main" id="{5CC7726B-FFDB-BF9F-1DD5-A300620171E9}"/>
              </a:ext>
            </a:extLst>
          </p:cNvPr>
          <p:cNvSpPr/>
          <p:nvPr/>
        </p:nvSpPr>
        <p:spPr>
          <a:xfrm>
            <a:off x="6964253" y="5199665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r>
              <a:t>Prompting Patterns And Final Takeaways</a:t>
            </a:r>
          </a:p>
        </p:txBody>
      </p:sp>
      <p:sp>
        <p:nvSpPr>
          <p:cNvPr id="39" name="爱设计-23">
            <a:extLst>
              <a:ext uri="{FF2B5EF4-FFF2-40B4-BE49-F238E27FC236}">
                <a16:creationId xmlns:a16="http://schemas.microsoft.com/office/drawing/2014/main" id="{574E9DCD-8C04-A9C1-26DB-2AE0C06C0871}"/>
              </a:ext>
            </a:extLst>
          </p:cNvPr>
          <p:cNvSpPr/>
          <p:nvPr/>
        </p:nvSpPr>
        <p:spPr>
          <a:xfrm>
            <a:off x="9479642" y="4812641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40" name="爱设计-24">
            <a:extLst>
              <a:ext uri="{FF2B5EF4-FFF2-40B4-BE49-F238E27FC236}">
                <a16:creationId xmlns:a16="http://schemas.microsoft.com/office/drawing/2014/main" id="{B0788661-26EC-4166-0F8C-BF9449CC5312}"/>
              </a:ext>
            </a:extLst>
          </p:cNvPr>
          <p:cNvSpPr txBox="1"/>
          <p:nvPr/>
        </p:nvSpPr>
        <p:spPr>
          <a:xfrm>
            <a:off x="9900120" y="4998100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t>04</a:t>
            </a:r>
          </a:p>
        </p:txBody>
      </p:sp>
      <p:grpSp>
        <p:nvGrpSpPr>
          <p:cNvPr id="41" name="爱设计-25">
            <a:extLst>
              <a:ext uri="{FF2B5EF4-FFF2-40B4-BE49-F238E27FC236}">
                <a16:creationId xmlns:a16="http://schemas.microsoft.com/office/drawing/2014/main" id="{87649FF5-6287-B78B-8BB4-DBC4FABD0823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42" name="爱设计-25-1">
              <a:extLst>
                <a:ext uri="{FF2B5EF4-FFF2-40B4-BE49-F238E27FC236}">
                  <a16:creationId xmlns:a16="http://schemas.microsoft.com/office/drawing/2014/main" id="{69EBB297-83A5-8D4B-963B-40A4D882E4EC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爱设计-25-2">
              <a:extLst>
                <a:ext uri="{FF2B5EF4-FFF2-40B4-BE49-F238E27FC236}">
                  <a16:creationId xmlns:a16="http://schemas.microsoft.com/office/drawing/2014/main" id="{5EF01CC2-259F-FAC2-C80B-31E2DE643C1A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爱设计-26">
            <a:extLst>
              <a:ext uri="{FF2B5EF4-FFF2-40B4-BE49-F238E27FC236}">
                <a16:creationId xmlns:a16="http://schemas.microsoft.com/office/drawing/2014/main" id="{5CE8FD72-218D-59DD-F2F8-4DB0CBB0DF51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AI product design experience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323165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为什么讲这个项目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Why This Project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4C42A11B-1BDF-9C36-2BEF-1D2312ABFA04}"/>
              </a:ext>
            </a:extLst>
          </p:cNvPr>
          <p:cNvGrpSpPr/>
          <p:nvPr/>
        </p:nvGrpSpPr>
        <p:grpSpPr>
          <a:xfrm>
            <a:off x="5878506" y="1028700"/>
            <a:ext cx="5640394" cy="5640381"/>
            <a:chOff x="5689098" y="710457"/>
            <a:chExt cx="5640394" cy="5640381"/>
          </a:xfrm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51A654DB-6E7F-6081-84DD-DE647B6CB800}"/>
                </a:ext>
              </a:extLst>
            </p:cNvPr>
            <p:cNvSpPr/>
            <p:nvPr/>
          </p:nvSpPr>
          <p:spPr>
            <a:xfrm>
              <a:off x="6884728" y="1906085"/>
              <a:ext cx="3249133" cy="3249126"/>
            </a:xfrm>
            <a:prstGeom prst="donut">
              <a:avLst>
                <a:gd name="adj" fmla="val 12816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/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B78F6BDC-BF6E-5413-373C-0E4D04AD7D65}"/>
                </a:ext>
              </a:extLst>
            </p:cNvPr>
            <p:cNvSpPr/>
            <p:nvPr/>
          </p:nvSpPr>
          <p:spPr>
            <a:xfrm>
              <a:off x="6486185" y="1507542"/>
              <a:ext cx="4046220" cy="4046211"/>
            </a:xfrm>
            <a:prstGeom prst="donut">
              <a:avLst>
                <a:gd name="adj" fmla="val 11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>
                    <a:lumMod val="100000"/>
                  </a:schemeClr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84C6F674-131C-D48A-33D1-D2625FC042B5}"/>
                </a:ext>
              </a:extLst>
            </p:cNvPr>
            <p:cNvSpPr/>
            <p:nvPr/>
          </p:nvSpPr>
          <p:spPr>
            <a:xfrm>
              <a:off x="6087641" y="1109000"/>
              <a:ext cx="4843307" cy="4843296"/>
            </a:xfrm>
            <a:prstGeom prst="donut">
              <a:avLst>
                <a:gd name="adj" fmla="val 92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>
                    <a:lumMod val="100000"/>
                  </a:schemeClr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9" name="爱设计-4-4">
              <a:extLst>
                <a:ext uri="{FF2B5EF4-FFF2-40B4-BE49-F238E27FC236}">
                  <a16:creationId xmlns:a16="http://schemas.microsoft.com/office/drawing/2014/main" id="{D196493A-526B-4703-E36F-16496463CE71}"/>
                </a:ext>
              </a:extLst>
            </p:cNvPr>
            <p:cNvSpPr/>
            <p:nvPr/>
          </p:nvSpPr>
          <p:spPr>
            <a:xfrm>
              <a:off x="5689098" y="710457"/>
              <a:ext cx="5640394" cy="5640381"/>
            </a:xfrm>
            <a:prstGeom prst="donut">
              <a:avLst>
                <a:gd name="adj" fmla="val 7423"/>
              </a:avLst>
            </a:prstGeom>
            <a:gradFill>
              <a:gsLst>
                <a:gs pos="0">
                  <a:schemeClr val="accent1">
                    <a:lumMod val="10000"/>
                    <a:lumOff val="90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/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爱设计-4-5">
              <a:extLst>
                <a:ext uri="{FF2B5EF4-FFF2-40B4-BE49-F238E27FC236}">
                  <a16:creationId xmlns:a16="http://schemas.microsoft.com/office/drawing/2014/main" id="{7D5A7C9B-F1B7-F123-F18F-EB0EB88AEBB8}"/>
                </a:ext>
              </a:extLst>
            </p:cNvPr>
            <p:cNvSpPr/>
            <p:nvPr/>
          </p:nvSpPr>
          <p:spPr>
            <a:xfrm>
              <a:off x="7767726" y="103812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1" name="爱设计-4-6">
              <a:extLst>
                <a:ext uri="{FF2B5EF4-FFF2-40B4-BE49-F238E27FC236}">
                  <a16:creationId xmlns:a16="http://schemas.microsoft.com/office/drawing/2014/main" id="{FDB7F50E-B9CF-19A4-87E1-E90E0893CA85}"/>
                </a:ext>
              </a:extLst>
            </p:cNvPr>
            <p:cNvSpPr txBox="1"/>
            <p:nvPr/>
          </p:nvSpPr>
          <p:spPr>
            <a:xfrm>
              <a:off x="7866762" y="1448607"/>
              <a:ext cx="1259544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高效的基本准则</a:t>
              </a:r>
            </a:p>
          </p:txBody>
        </p:sp>
        <p:sp>
          <p:nvSpPr>
            <p:cNvPr id="12" name="爱设计-4-7">
              <a:extLst>
                <a:ext uri="{FF2B5EF4-FFF2-40B4-BE49-F238E27FC236}">
                  <a16:creationId xmlns:a16="http://schemas.microsoft.com/office/drawing/2014/main" id="{BEEDCF46-3503-3B89-E3C7-FBC3D7239EA6}"/>
                </a:ext>
              </a:extLst>
            </p:cNvPr>
            <p:cNvSpPr/>
            <p:nvPr/>
          </p:nvSpPr>
          <p:spPr>
            <a:xfrm>
              <a:off x="9328705" y="377360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3" name="爱设计-4-8">
              <a:extLst>
                <a:ext uri="{FF2B5EF4-FFF2-40B4-BE49-F238E27FC236}">
                  <a16:creationId xmlns:a16="http://schemas.microsoft.com/office/drawing/2014/main" id="{459675D9-A281-72BA-65F3-98F00C1E0E43}"/>
                </a:ext>
              </a:extLst>
            </p:cNvPr>
            <p:cNvSpPr/>
            <p:nvPr/>
          </p:nvSpPr>
          <p:spPr>
            <a:xfrm>
              <a:off x="6232268" y="377360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4" name="爱设计-4-9">
              <a:extLst>
                <a:ext uri="{FF2B5EF4-FFF2-40B4-BE49-F238E27FC236}">
                  <a16:creationId xmlns:a16="http://schemas.microsoft.com/office/drawing/2014/main" id="{079B75E5-6138-4D66-278D-C0C2C5D2F217}"/>
                </a:ext>
              </a:extLst>
            </p:cNvPr>
            <p:cNvSpPr txBox="1"/>
            <p:nvPr/>
          </p:nvSpPr>
          <p:spPr>
            <a:xfrm>
              <a:off x="6473424" y="4184087"/>
              <a:ext cx="975303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高效项目管理</a:t>
              </a:r>
            </a:p>
          </p:txBody>
        </p:sp>
        <p:sp>
          <p:nvSpPr>
            <p:cNvPr id="15" name="爱设计-4-10">
              <a:extLst>
                <a:ext uri="{FF2B5EF4-FFF2-40B4-BE49-F238E27FC236}">
                  <a16:creationId xmlns:a16="http://schemas.microsoft.com/office/drawing/2014/main" id="{7557C86C-8AEA-4CA7-01E2-2ADA6B296ADA}"/>
                </a:ext>
              </a:extLst>
            </p:cNvPr>
            <p:cNvSpPr txBox="1"/>
            <p:nvPr/>
          </p:nvSpPr>
          <p:spPr>
            <a:xfrm>
              <a:off x="9569862" y="4184087"/>
              <a:ext cx="975303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高效程序员开发</a:t>
              </a:r>
            </a:p>
          </p:txBody>
        </p:sp>
        <p:sp>
          <p:nvSpPr>
            <p:cNvPr id="16" name="爱设计-4-11">
              <a:extLst>
                <a:ext uri="{FF2B5EF4-FFF2-40B4-BE49-F238E27FC236}">
                  <a16:creationId xmlns:a16="http://schemas.microsoft.com/office/drawing/2014/main" id="{137F1506-918F-5348-6227-ACB021E2B748}"/>
                </a:ext>
              </a:extLst>
            </p:cNvPr>
            <p:cNvSpPr txBox="1"/>
            <p:nvPr/>
          </p:nvSpPr>
          <p:spPr>
            <a:xfrm>
              <a:off x="7667497" y="2943499"/>
              <a:ext cx="1683595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三个</a:t>
              </a:r>
              <a:br>
                <a:rPr lang="en-US" altLang="zh-CN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</a:br>
              <a:r>
                <a:rPr lang="zh-CN" altLang="en-US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方面</a:t>
              </a:r>
            </a:p>
          </p:txBody>
        </p:sp>
      </p:grpSp>
      <p:grpSp>
        <p:nvGrpSpPr>
          <p:cNvPr id="21" name="爱设计-5">
            <a:extLst>
              <a:ext uri="{FF2B5EF4-FFF2-40B4-BE49-F238E27FC236}">
                <a16:creationId xmlns:a16="http://schemas.microsoft.com/office/drawing/2014/main" id="{68C89CDD-7BCD-1A0B-622D-00B62176A055}"/>
              </a:ext>
            </a:extLst>
          </p:cNvPr>
          <p:cNvGrpSpPr/>
          <p:nvPr/>
        </p:nvGrpSpPr>
        <p:grpSpPr>
          <a:xfrm>
            <a:off x="565467" y="2162228"/>
            <a:ext cx="4750291" cy="3373324"/>
            <a:chOff x="565467" y="2342208"/>
            <a:chExt cx="4750291" cy="3373324"/>
          </a:xfrm>
        </p:grpSpPr>
        <p:sp>
          <p:nvSpPr>
            <p:cNvPr id="18" name="爱设计-5-1">
              <a:extLst>
                <a:ext uri="{FF2B5EF4-FFF2-40B4-BE49-F238E27FC236}">
                  <a16:creationId xmlns:a16="http://schemas.microsoft.com/office/drawing/2014/main" id="{31DACA76-84D6-934D-C0F6-7E437C945F22}"/>
                </a:ext>
              </a:extLst>
            </p:cNvPr>
            <p:cNvSpPr txBox="1"/>
            <p:nvPr/>
          </p:nvSpPr>
          <p:spPr>
            <a:xfrm flipH="1">
              <a:off x="565467" y="2652642"/>
              <a:ext cx="4750291" cy="30628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时间管理的关键是要事第一原则。在时间管理矩阵中，按照重要性和紧急性可以把事情分为四类：重要紧急、重要不紧急、不紧急重要、不紧急不重要。大量的时间应该花在那些重要不紧急的事情上。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学会工作授权不仅仅是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leader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要做的，普通的一线程序员也要有这个意识，否则会被大量紧急不重要或者不紧急也不重要的事情缠身，效率也不可能高。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程序员作为实现需求的一方，需要在需求方（不管是产品还是运营还是老板）传达需求的时候充分理解需求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</p:txBody>
        </p:sp>
        <p:cxnSp>
          <p:nvCxnSpPr>
            <p:cNvPr id="19" name="爱设计-5-2">
              <a:extLst>
                <a:ext uri="{FF2B5EF4-FFF2-40B4-BE49-F238E27FC236}">
                  <a16:creationId xmlns:a16="http://schemas.microsoft.com/office/drawing/2014/main" id="{8B74A0B5-8E94-467E-F953-A039D9C2C47D}"/>
                </a:ext>
              </a:extLst>
            </p:cNvPr>
            <p:cNvCxnSpPr>
              <a:cxnSpLocks/>
            </p:cNvCxnSpPr>
            <p:nvPr/>
          </p:nvCxnSpPr>
          <p:spPr>
            <a:xfrm>
              <a:off x="849948" y="2342208"/>
              <a:ext cx="697128" cy="0"/>
            </a:xfrm>
            <a:prstGeom prst="line">
              <a:avLst/>
            </a:prstGeom>
            <a:ln w="698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51350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AI 的价值体现在哪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Where AI Created Value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这次项目里，AI 的价值不在于替产品经理做判断，而在于更快地整理、对照、同步和暴露问题。</a:t>
            </a:r>
          </a:p>
        </p:txBody>
      </p:sp>
      <p:grpSp>
        <p:nvGrpSpPr>
          <p:cNvPr id="43" name="爱设计-4">
            <a:extLst>
              <a:ext uri="{FF2B5EF4-FFF2-40B4-BE49-F238E27FC236}">
                <a16:creationId xmlns:a16="http://schemas.microsoft.com/office/drawing/2014/main" id="{EF6AA630-0480-CF74-2C77-03DF1F7C23B4}"/>
              </a:ext>
            </a:extLst>
          </p:cNvPr>
          <p:cNvGrpSpPr/>
          <p:nvPr/>
        </p:nvGrpSpPr>
        <p:grpSpPr>
          <a:xfrm>
            <a:off x="724864" y="2160169"/>
            <a:ext cx="2228563" cy="2950307"/>
            <a:chOff x="839162" y="2009698"/>
            <a:chExt cx="2228563" cy="2950307"/>
          </a:xfrm>
        </p:grpSpPr>
        <p:sp>
          <p:nvSpPr>
            <p:cNvPr id="4" name="爱设计-4-1">
              <a:extLst>
                <a:ext uri="{FF2B5EF4-FFF2-40B4-BE49-F238E27FC236}">
                  <a16:creationId xmlns:a16="http://schemas.microsoft.com/office/drawing/2014/main" id="{96F49106-D29B-2307-6E34-CF5D69767167}"/>
                </a:ext>
              </a:extLst>
            </p:cNvPr>
            <p:cNvSpPr/>
            <p:nvPr/>
          </p:nvSpPr>
          <p:spPr>
            <a:xfrm>
              <a:off x="839162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5" name="爱设计-4-2">
              <a:extLst>
                <a:ext uri="{FF2B5EF4-FFF2-40B4-BE49-F238E27FC236}">
                  <a16:creationId xmlns:a16="http://schemas.microsoft.com/office/drawing/2014/main" id="{DE949063-1A9F-AAF6-6C27-B86586941B66}"/>
                </a:ext>
              </a:extLst>
            </p:cNvPr>
            <p:cNvSpPr txBox="1"/>
            <p:nvPr/>
          </p:nvSpPr>
          <p:spPr>
            <a:xfrm>
              <a:off x="1156623" y="3909538"/>
              <a:ext cx="1593640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原则一：对工作要有整体印象</a:t>
              </a:r>
            </a:p>
          </p:txBody>
        </p:sp>
        <p:cxnSp>
          <p:nvCxnSpPr>
            <p:cNvPr id="9" name="爱设计-4-3">
              <a:extLst>
                <a:ext uri="{FF2B5EF4-FFF2-40B4-BE49-F238E27FC236}">
                  <a16:creationId xmlns:a16="http://schemas.microsoft.com/office/drawing/2014/main" id="{B4A1B2C2-E0C9-7AEC-5EFE-0809D1ED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769126" y="3608660"/>
              <a:ext cx="36863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爱设计-4-4">
              <a:extLst>
                <a:ext uri="{FF2B5EF4-FFF2-40B4-BE49-F238E27FC236}">
                  <a16:creationId xmlns:a16="http://schemas.microsoft.com/office/drawing/2014/main" id="{2AD3C9E4-B992-E71F-3287-421503A114F9}"/>
                </a:ext>
              </a:extLst>
            </p:cNvPr>
            <p:cNvSpPr/>
            <p:nvPr/>
          </p:nvSpPr>
          <p:spPr>
            <a:xfrm>
              <a:off x="1384153" y="2267856"/>
              <a:ext cx="1138581" cy="113858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0" name="爱设计-4-5">
              <a:extLst>
                <a:ext uri="{FF2B5EF4-FFF2-40B4-BE49-F238E27FC236}">
                  <a16:creationId xmlns:a16="http://schemas.microsoft.com/office/drawing/2014/main" id="{1265311A-9EE7-BC3E-0EB8-3EC30F6BF935}"/>
                </a:ext>
              </a:extLst>
            </p:cNvPr>
            <p:cNvSpPr/>
            <p:nvPr/>
          </p:nvSpPr>
          <p:spPr>
            <a:xfrm>
              <a:off x="1481262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1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7" name="爱设计-4-6">
              <a:extLst>
                <a:ext uri="{FF2B5EF4-FFF2-40B4-BE49-F238E27FC236}">
                  <a16:creationId xmlns:a16="http://schemas.microsoft.com/office/drawing/2014/main" id="{BB5A91F1-5239-2FA5-A5B7-7449CB3F9286}"/>
                </a:ext>
              </a:extLst>
            </p:cNvPr>
            <p:cNvSpPr/>
            <p:nvPr/>
          </p:nvSpPr>
          <p:spPr>
            <a:xfrm>
              <a:off x="1736128" y="2619831"/>
              <a:ext cx="434632" cy="434632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1" name="爱设计-5">
            <a:extLst>
              <a:ext uri="{FF2B5EF4-FFF2-40B4-BE49-F238E27FC236}">
                <a16:creationId xmlns:a16="http://schemas.microsoft.com/office/drawing/2014/main" id="{C98961B7-F79F-E7B3-CD96-ED4AF41F762B}"/>
              </a:ext>
            </a:extLst>
          </p:cNvPr>
          <p:cNvGrpSpPr/>
          <p:nvPr/>
        </p:nvGrpSpPr>
        <p:grpSpPr>
          <a:xfrm>
            <a:off x="6248272" y="2160169"/>
            <a:ext cx="2228563" cy="2950307"/>
            <a:chOff x="5878206" y="2009698"/>
            <a:chExt cx="2228563" cy="2950307"/>
          </a:xfrm>
        </p:grpSpPr>
        <p:sp>
          <p:nvSpPr>
            <p:cNvPr id="10" name="爱设计-5-1">
              <a:extLst>
                <a:ext uri="{FF2B5EF4-FFF2-40B4-BE49-F238E27FC236}">
                  <a16:creationId xmlns:a16="http://schemas.microsoft.com/office/drawing/2014/main" id="{13288CBC-4F19-DF29-D85E-4C4572D97822}"/>
                </a:ext>
              </a:extLst>
            </p:cNvPr>
            <p:cNvSpPr/>
            <p:nvPr/>
          </p:nvSpPr>
          <p:spPr>
            <a:xfrm>
              <a:off x="5878206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1" name="爱设计-5-2">
              <a:extLst>
                <a:ext uri="{FF2B5EF4-FFF2-40B4-BE49-F238E27FC236}">
                  <a16:creationId xmlns:a16="http://schemas.microsoft.com/office/drawing/2014/main" id="{598E740C-3863-5071-C7DB-300CA6C82FF2}"/>
                </a:ext>
              </a:extLst>
            </p:cNvPr>
            <p:cNvSpPr txBox="1"/>
            <p:nvPr/>
          </p:nvSpPr>
          <p:spPr>
            <a:xfrm>
              <a:off x="5970410" y="3909538"/>
              <a:ext cx="2044158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原则三：不要重复</a:t>
              </a:r>
              <a:br>
                <a:rPr lang="en-US" altLang="zh-CN" dirty="0">
                  <a:latin typeface="+mn-ea"/>
                  <a:ea typeface="+mn-ea"/>
                </a:rPr>
              </a:br>
              <a:r>
                <a:rPr lang="zh-CN" altLang="en-US" dirty="0">
                  <a:latin typeface="+mn-ea"/>
                  <a:ea typeface="+mn-ea"/>
                </a:rPr>
                <a:t>造轮子</a:t>
              </a:r>
            </a:p>
          </p:txBody>
        </p:sp>
        <p:cxnSp>
          <p:nvCxnSpPr>
            <p:cNvPr id="12" name="爱设计-5-3">
              <a:extLst>
                <a:ext uri="{FF2B5EF4-FFF2-40B4-BE49-F238E27FC236}">
                  <a16:creationId xmlns:a16="http://schemas.microsoft.com/office/drawing/2014/main" id="{73EEF5A1-D83F-93DD-477A-52418FF13FAD}"/>
                </a:ext>
              </a:extLst>
            </p:cNvPr>
            <p:cNvCxnSpPr>
              <a:cxnSpLocks/>
            </p:cNvCxnSpPr>
            <p:nvPr/>
          </p:nvCxnSpPr>
          <p:spPr>
            <a:xfrm>
              <a:off x="6808170" y="3608660"/>
              <a:ext cx="36863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爱设计-5-4">
              <a:extLst>
                <a:ext uri="{FF2B5EF4-FFF2-40B4-BE49-F238E27FC236}">
                  <a16:creationId xmlns:a16="http://schemas.microsoft.com/office/drawing/2014/main" id="{BAC4D93D-4F72-BE72-0451-21ADCC727737}"/>
                </a:ext>
              </a:extLst>
            </p:cNvPr>
            <p:cNvSpPr/>
            <p:nvPr/>
          </p:nvSpPr>
          <p:spPr>
            <a:xfrm>
              <a:off x="6423197" y="2267856"/>
              <a:ext cx="1138581" cy="113858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4" name="爱设计-5-5">
              <a:extLst>
                <a:ext uri="{FF2B5EF4-FFF2-40B4-BE49-F238E27FC236}">
                  <a16:creationId xmlns:a16="http://schemas.microsoft.com/office/drawing/2014/main" id="{49542739-6835-43F8-67A2-61B5BAA2BCF9}"/>
                </a:ext>
              </a:extLst>
            </p:cNvPr>
            <p:cNvSpPr/>
            <p:nvPr/>
          </p:nvSpPr>
          <p:spPr>
            <a:xfrm>
              <a:off x="6520306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1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8" name="爱设计-5-6">
              <a:extLst>
                <a:ext uri="{FF2B5EF4-FFF2-40B4-BE49-F238E27FC236}">
                  <a16:creationId xmlns:a16="http://schemas.microsoft.com/office/drawing/2014/main" id="{6D7B5734-F2D1-574B-0D6E-5EBC26E79DDC}"/>
                </a:ext>
              </a:extLst>
            </p:cNvPr>
            <p:cNvSpPr/>
            <p:nvPr/>
          </p:nvSpPr>
          <p:spPr>
            <a:xfrm>
              <a:off x="6782742" y="2619045"/>
              <a:ext cx="419491" cy="436203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0" name="爱设计-6">
            <a:extLst>
              <a:ext uri="{FF2B5EF4-FFF2-40B4-BE49-F238E27FC236}">
                <a16:creationId xmlns:a16="http://schemas.microsoft.com/office/drawing/2014/main" id="{C0BB5F03-6FFC-A8BD-CCC6-2E0DF3F3F920}"/>
              </a:ext>
            </a:extLst>
          </p:cNvPr>
          <p:cNvGrpSpPr/>
          <p:nvPr/>
        </p:nvGrpSpPr>
        <p:grpSpPr>
          <a:xfrm>
            <a:off x="9009977" y="2160169"/>
            <a:ext cx="2228563" cy="2950307"/>
            <a:chOff x="8397728" y="2009698"/>
            <a:chExt cx="2228563" cy="2950307"/>
          </a:xfrm>
        </p:grpSpPr>
        <p:sp>
          <p:nvSpPr>
            <p:cNvPr id="13" name="爱设计-6-1">
              <a:extLst>
                <a:ext uri="{FF2B5EF4-FFF2-40B4-BE49-F238E27FC236}">
                  <a16:creationId xmlns:a16="http://schemas.microsoft.com/office/drawing/2014/main" id="{1B757B83-F549-782E-6408-76589DE471D7}"/>
                </a:ext>
              </a:extLst>
            </p:cNvPr>
            <p:cNvSpPr/>
            <p:nvPr/>
          </p:nvSpPr>
          <p:spPr>
            <a:xfrm>
              <a:off x="8397728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4" name="爱设计-6-2">
              <a:extLst>
                <a:ext uri="{FF2B5EF4-FFF2-40B4-BE49-F238E27FC236}">
                  <a16:creationId xmlns:a16="http://schemas.microsoft.com/office/drawing/2014/main" id="{ECCB87D4-E656-16E2-60AB-F5CC591EFC4C}"/>
                </a:ext>
              </a:extLst>
            </p:cNvPr>
            <p:cNvSpPr txBox="1"/>
            <p:nvPr/>
          </p:nvSpPr>
          <p:spPr>
            <a:xfrm>
              <a:off x="8643984" y="3909538"/>
              <a:ext cx="1736052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原则四：凡事提前，先行一步</a:t>
              </a:r>
            </a:p>
          </p:txBody>
        </p:sp>
        <p:cxnSp>
          <p:nvCxnSpPr>
            <p:cNvPr id="15" name="爱设计-6-3">
              <a:extLst>
                <a:ext uri="{FF2B5EF4-FFF2-40B4-BE49-F238E27FC236}">
                  <a16:creationId xmlns:a16="http://schemas.microsoft.com/office/drawing/2014/main" id="{04983779-A19B-D337-8FC7-C96E89CFA1C8}"/>
                </a:ext>
              </a:extLst>
            </p:cNvPr>
            <p:cNvCxnSpPr>
              <a:cxnSpLocks/>
            </p:cNvCxnSpPr>
            <p:nvPr/>
          </p:nvCxnSpPr>
          <p:spPr>
            <a:xfrm>
              <a:off x="9327693" y="3608660"/>
              <a:ext cx="368634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爱设计-6-4">
              <a:extLst>
                <a:ext uri="{FF2B5EF4-FFF2-40B4-BE49-F238E27FC236}">
                  <a16:creationId xmlns:a16="http://schemas.microsoft.com/office/drawing/2014/main" id="{7CFA2633-0704-FFF0-B171-F00E031B77BF}"/>
                </a:ext>
              </a:extLst>
            </p:cNvPr>
            <p:cNvSpPr/>
            <p:nvPr/>
          </p:nvSpPr>
          <p:spPr>
            <a:xfrm>
              <a:off x="8942719" y="2267856"/>
              <a:ext cx="1138581" cy="1138581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6" name="爱设计-6-5">
              <a:extLst>
                <a:ext uri="{FF2B5EF4-FFF2-40B4-BE49-F238E27FC236}">
                  <a16:creationId xmlns:a16="http://schemas.microsoft.com/office/drawing/2014/main" id="{2AA5296E-91E9-3985-B51C-A9AAB2053C4A}"/>
                </a:ext>
              </a:extLst>
            </p:cNvPr>
            <p:cNvSpPr/>
            <p:nvPr/>
          </p:nvSpPr>
          <p:spPr>
            <a:xfrm>
              <a:off x="9039828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2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9" name="爱设计-6-6">
              <a:extLst>
                <a:ext uri="{FF2B5EF4-FFF2-40B4-BE49-F238E27FC236}">
                  <a16:creationId xmlns:a16="http://schemas.microsoft.com/office/drawing/2014/main" id="{759D208E-8357-BCAB-5BA5-5A0045B1CF81}"/>
                </a:ext>
              </a:extLst>
            </p:cNvPr>
            <p:cNvSpPr/>
            <p:nvPr/>
          </p:nvSpPr>
          <p:spPr>
            <a:xfrm>
              <a:off x="9276169" y="2623330"/>
              <a:ext cx="471681" cy="427633"/>
            </a:xfrm>
            <a:custGeom>
              <a:avLst/>
              <a:gdLst>
                <a:gd name="connsiteX0" fmla="*/ 31770 w 794163"/>
                <a:gd name="connsiteY0" fmla="*/ 656460 h 720001"/>
                <a:gd name="connsiteX1" fmla="*/ 762297 w 794163"/>
                <a:gd name="connsiteY1" fmla="*/ 656460 h 720001"/>
                <a:gd name="connsiteX2" fmla="*/ 794163 w 794163"/>
                <a:gd name="connsiteY2" fmla="*/ 688230 h 720001"/>
                <a:gd name="connsiteX3" fmla="*/ 762392 w 794163"/>
                <a:gd name="connsiteY3" fmla="*/ 720001 h 720001"/>
                <a:gd name="connsiteX4" fmla="*/ 31770 w 794163"/>
                <a:gd name="connsiteY4" fmla="*/ 720001 h 720001"/>
                <a:gd name="connsiteX5" fmla="*/ 0 w 794163"/>
                <a:gd name="connsiteY5" fmla="*/ 688230 h 720001"/>
                <a:gd name="connsiteX6" fmla="*/ 31770 w 794163"/>
                <a:gd name="connsiteY6" fmla="*/ 656460 h 720001"/>
                <a:gd name="connsiteX7" fmla="*/ 613493 w 794163"/>
                <a:gd name="connsiteY7" fmla="*/ 317608 h 720001"/>
                <a:gd name="connsiteX8" fmla="*/ 710048 w 794163"/>
                <a:gd name="connsiteY8" fmla="*/ 317608 h 720001"/>
                <a:gd name="connsiteX9" fmla="*/ 767655 w 794163"/>
                <a:gd name="connsiteY9" fmla="*/ 375216 h 720001"/>
                <a:gd name="connsiteX10" fmla="*/ 767655 w 794163"/>
                <a:gd name="connsiteY10" fmla="*/ 524689 h 720001"/>
                <a:gd name="connsiteX11" fmla="*/ 710048 w 794163"/>
                <a:gd name="connsiteY11" fmla="*/ 582297 h 720001"/>
                <a:gd name="connsiteX12" fmla="*/ 613493 w 794163"/>
                <a:gd name="connsiteY12" fmla="*/ 582297 h 720001"/>
                <a:gd name="connsiteX13" fmla="*/ 555885 w 794163"/>
                <a:gd name="connsiteY13" fmla="*/ 524689 h 720001"/>
                <a:gd name="connsiteX14" fmla="*/ 555885 w 794163"/>
                <a:gd name="connsiteY14" fmla="*/ 375216 h 720001"/>
                <a:gd name="connsiteX15" fmla="*/ 613493 w 794163"/>
                <a:gd name="connsiteY15" fmla="*/ 317608 h 720001"/>
                <a:gd name="connsiteX16" fmla="*/ 84019 w 794163"/>
                <a:gd name="connsiteY16" fmla="*/ 211770 h 720001"/>
                <a:gd name="connsiteX17" fmla="*/ 180574 w 794163"/>
                <a:gd name="connsiteY17" fmla="*/ 211770 h 720001"/>
                <a:gd name="connsiteX18" fmla="*/ 238182 w 794163"/>
                <a:gd name="connsiteY18" fmla="*/ 269282 h 720001"/>
                <a:gd name="connsiteX19" fmla="*/ 238182 w 794163"/>
                <a:gd name="connsiteY19" fmla="*/ 524785 h 720001"/>
                <a:gd name="connsiteX20" fmla="*/ 180574 w 794163"/>
                <a:gd name="connsiteY20" fmla="*/ 582393 h 720001"/>
                <a:gd name="connsiteX21" fmla="*/ 84019 w 794163"/>
                <a:gd name="connsiteY21" fmla="*/ 582393 h 720001"/>
                <a:gd name="connsiteX22" fmla="*/ 26411 w 794163"/>
                <a:gd name="connsiteY22" fmla="*/ 524785 h 720001"/>
                <a:gd name="connsiteX23" fmla="*/ 26411 w 794163"/>
                <a:gd name="connsiteY23" fmla="*/ 269378 h 720001"/>
                <a:gd name="connsiteX24" fmla="*/ 84019 w 794163"/>
                <a:gd name="connsiteY24" fmla="*/ 211770 h 720001"/>
                <a:gd name="connsiteX25" fmla="*/ 348708 w 794163"/>
                <a:gd name="connsiteY25" fmla="*/ 0 h 720001"/>
                <a:gd name="connsiteX26" fmla="*/ 445359 w 794163"/>
                <a:gd name="connsiteY26" fmla="*/ 0 h 720001"/>
                <a:gd name="connsiteX27" fmla="*/ 502871 w 794163"/>
                <a:gd name="connsiteY27" fmla="*/ 57607 h 720001"/>
                <a:gd name="connsiteX28" fmla="*/ 502871 w 794163"/>
                <a:gd name="connsiteY28" fmla="*/ 524785 h 720001"/>
                <a:gd name="connsiteX29" fmla="*/ 445263 w 794163"/>
                <a:gd name="connsiteY29" fmla="*/ 582393 h 720001"/>
                <a:gd name="connsiteX30" fmla="*/ 348708 w 794163"/>
                <a:gd name="connsiteY30" fmla="*/ 582393 h 720001"/>
                <a:gd name="connsiteX31" fmla="*/ 291100 w 794163"/>
                <a:gd name="connsiteY31" fmla="*/ 524785 h 720001"/>
                <a:gd name="connsiteX32" fmla="*/ 291100 w 794163"/>
                <a:gd name="connsiteY32" fmla="*/ 57607 h 720001"/>
                <a:gd name="connsiteX33" fmla="*/ 348708 w 794163"/>
                <a:gd name="connsiteY33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94163" h="720001">
                  <a:moveTo>
                    <a:pt x="31770" y="656460"/>
                  </a:moveTo>
                  <a:lnTo>
                    <a:pt x="762297" y="656460"/>
                  </a:lnTo>
                  <a:cubicBezTo>
                    <a:pt x="779904" y="656460"/>
                    <a:pt x="794067" y="670622"/>
                    <a:pt x="794163" y="688230"/>
                  </a:cubicBezTo>
                  <a:cubicBezTo>
                    <a:pt x="794163" y="705742"/>
                    <a:pt x="779904" y="720001"/>
                    <a:pt x="762392" y="720001"/>
                  </a:cubicBezTo>
                  <a:lnTo>
                    <a:pt x="31770" y="720001"/>
                  </a:lnTo>
                  <a:cubicBezTo>
                    <a:pt x="14258" y="720001"/>
                    <a:pt x="0" y="705742"/>
                    <a:pt x="0" y="688230"/>
                  </a:cubicBezTo>
                  <a:cubicBezTo>
                    <a:pt x="0" y="670718"/>
                    <a:pt x="14258" y="656460"/>
                    <a:pt x="31770" y="656460"/>
                  </a:cubicBezTo>
                  <a:close/>
                  <a:moveTo>
                    <a:pt x="613493" y="317608"/>
                  </a:moveTo>
                  <a:lnTo>
                    <a:pt x="710048" y="317608"/>
                  </a:lnTo>
                  <a:cubicBezTo>
                    <a:pt x="741818" y="317608"/>
                    <a:pt x="767655" y="343445"/>
                    <a:pt x="767655" y="375216"/>
                  </a:cubicBezTo>
                  <a:lnTo>
                    <a:pt x="767655" y="524689"/>
                  </a:lnTo>
                  <a:cubicBezTo>
                    <a:pt x="767655" y="556364"/>
                    <a:pt x="741723" y="582297"/>
                    <a:pt x="710048" y="582297"/>
                  </a:cubicBezTo>
                  <a:lnTo>
                    <a:pt x="613493" y="582297"/>
                  </a:lnTo>
                  <a:cubicBezTo>
                    <a:pt x="581818" y="582297"/>
                    <a:pt x="555885" y="556364"/>
                    <a:pt x="555885" y="524689"/>
                  </a:cubicBezTo>
                  <a:lnTo>
                    <a:pt x="555885" y="375216"/>
                  </a:lnTo>
                  <a:cubicBezTo>
                    <a:pt x="555885" y="343349"/>
                    <a:pt x="581722" y="317608"/>
                    <a:pt x="613493" y="317608"/>
                  </a:cubicBezTo>
                  <a:close/>
                  <a:moveTo>
                    <a:pt x="84019" y="211770"/>
                  </a:moveTo>
                  <a:lnTo>
                    <a:pt x="180574" y="211770"/>
                  </a:lnTo>
                  <a:cubicBezTo>
                    <a:pt x="212440" y="211770"/>
                    <a:pt x="238182" y="237512"/>
                    <a:pt x="238182" y="269282"/>
                  </a:cubicBezTo>
                  <a:lnTo>
                    <a:pt x="238182" y="524785"/>
                  </a:lnTo>
                  <a:cubicBezTo>
                    <a:pt x="238182" y="556460"/>
                    <a:pt x="212248" y="582393"/>
                    <a:pt x="180574" y="582393"/>
                  </a:cubicBezTo>
                  <a:lnTo>
                    <a:pt x="84019" y="582393"/>
                  </a:lnTo>
                  <a:cubicBezTo>
                    <a:pt x="52344" y="582393"/>
                    <a:pt x="26411" y="556460"/>
                    <a:pt x="26411" y="524785"/>
                  </a:cubicBezTo>
                  <a:lnTo>
                    <a:pt x="26411" y="269378"/>
                  </a:lnTo>
                  <a:cubicBezTo>
                    <a:pt x="26411" y="237512"/>
                    <a:pt x="52248" y="211770"/>
                    <a:pt x="84019" y="211770"/>
                  </a:cubicBezTo>
                  <a:close/>
                  <a:moveTo>
                    <a:pt x="348708" y="0"/>
                  </a:moveTo>
                  <a:lnTo>
                    <a:pt x="445359" y="0"/>
                  </a:lnTo>
                  <a:cubicBezTo>
                    <a:pt x="477129" y="0"/>
                    <a:pt x="502871" y="25741"/>
                    <a:pt x="502871" y="57607"/>
                  </a:cubicBezTo>
                  <a:lnTo>
                    <a:pt x="502871" y="524785"/>
                  </a:lnTo>
                  <a:cubicBezTo>
                    <a:pt x="502871" y="556460"/>
                    <a:pt x="476937" y="582393"/>
                    <a:pt x="445263" y="582393"/>
                  </a:cubicBezTo>
                  <a:lnTo>
                    <a:pt x="348708" y="582393"/>
                  </a:lnTo>
                  <a:cubicBezTo>
                    <a:pt x="317033" y="582393"/>
                    <a:pt x="291100" y="556460"/>
                    <a:pt x="291100" y="524785"/>
                  </a:cubicBezTo>
                  <a:lnTo>
                    <a:pt x="291100" y="57607"/>
                  </a:lnTo>
                  <a:cubicBezTo>
                    <a:pt x="291100" y="25741"/>
                    <a:pt x="316937" y="0"/>
                    <a:pt x="348708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2" name="爱设计-7">
            <a:extLst>
              <a:ext uri="{FF2B5EF4-FFF2-40B4-BE49-F238E27FC236}">
                <a16:creationId xmlns:a16="http://schemas.microsoft.com/office/drawing/2014/main" id="{A72473E2-1278-4AFF-873D-18DD8BC24616}"/>
              </a:ext>
            </a:extLst>
          </p:cNvPr>
          <p:cNvGrpSpPr/>
          <p:nvPr/>
        </p:nvGrpSpPr>
        <p:grpSpPr>
          <a:xfrm>
            <a:off x="3486568" y="2160169"/>
            <a:ext cx="2228563" cy="2950307"/>
            <a:chOff x="3358684" y="2009698"/>
            <a:chExt cx="2228563" cy="2950307"/>
          </a:xfrm>
        </p:grpSpPr>
        <p:sp>
          <p:nvSpPr>
            <p:cNvPr id="16" name="爱设计-7-1">
              <a:extLst>
                <a:ext uri="{FF2B5EF4-FFF2-40B4-BE49-F238E27FC236}">
                  <a16:creationId xmlns:a16="http://schemas.microsoft.com/office/drawing/2014/main" id="{417CB10A-FA19-D325-543C-8F8138FC919A}"/>
                </a:ext>
              </a:extLst>
            </p:cNvPr>
            <p:cNvSpPr/>
            <p:nvPr/>
          </p:nvSpPr>
          <p:spPr>
            <a:xfrm>
              <a:off x="3358684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7" name="爱设计-7-2">
              <a:extLst>
                <a:ext uri="{FF2B5EF4-FFF2-40B4-BE49-F238E27FC236}">
                  <a16:creationId xmlns:a16="http://schemas.microsoft.com/office/drawing/2014/main" id="{728B065D-4E8E-8406-9B5C-B5B3745487FA}"/>
                </a:ext>
              </a:extLst>
            </p:cNvPr>
            <p:cNvSpPr txBox="1"/>
            <p:nvPr/>
          </p:nvSpPr>
          <p:spPr>
            <a:xfrm>
              <a:off x="3474898" y="3909538"/>
              <a:ext cx="1996134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原则二：持续改善</a:t>
              </a:r>
              <a:br>
                <a:rPr lang="en-US" altLang="zh-CN" dirty="0">
                  <a:latin typeface="+mn-ea"/>
                  <a:ea typeface="+mn-ea"/>
                </a:rPr>
              </a:br>
              <a:r>
                <a:rPr lang="zh-CN" altLang="en-US" dirty="0">
                  <a:latin typeface="+mn-ea"/>
                  <a:ea typeface="+mn-ea"/>
                </a:rPr>
                <a:t>工作方法</a:t>
              </a:r>
            </a:p>
          </p:txBody>
        </p:sp>
        <p:cxnSp>
          <p:nvCxnSpPr>
            <p:cNvPr id="18" name="爱设计-7-3">
              <a:extLst>
                <a:ext uri="{FF2B5EF4-FFF2-40B4-BE49-F238E27FC236}">
                  <a16:creationId xmlns:a16="http://schemas.microsoft.com/office/drawing/2014/main" id="{B21B226A-73FC-72ED-D527-CFD43A40FC59}"/>
                </a:ext>
              </a:extLst>
            </p:cNvPr>
            <p:cNvCxnSpPr>
              <a:cxnSpLocks/>
            </p:cNvCxnSpPr>
            <p:nvPr/>
          </p:nvCxnSpPr>
          <p:spPr>
            <a:xfrm>
              <a:off x="4288648" y="3608660"/>
              <a:ext cx="368634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爱设计-7-4">
              <a:extLst>
                <a:ext uri="{FF2B5EF4-FFF2-40B4-BE49-F238E27FC236}">
                  <a16:creationId xmlns:a16="http://schemas.microsoft.com/office/drawing/2014/main" id="{59A3144B-8D87-8E99-B1AE-952282360980}"/>
                </a:ext>
              </a:extLst>
            </p:cNvPr>
            <p:cNvSpPr/>
            <p:nvPr/>
          </p:nvSpPr>
          <p:spPr>
            <a:xfrm>
              <a:off x="3903675" y="2267856"/>
              <a:ext cx="1138581" cy="1138581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2" name="爱设计-7-5">
              <a:extLst>
                <a:ext uri="{FF2B5EF4-FFF2-40B4-BE49-F238E27FC236}">
                  <a16:creationId xmlns:a16="http://schemas.microsoft.com/office/drawing/2014/main" id="{3CA9C9E8-9A51-6E78-2D14-D3B6BBA628F3}"/>
                </a:ext>
              </a:extLst>
            </p:cNvPr>
            <p:cNvSpPr/>
            <p:nvPr/>
          </p:nvSpPr>
          <p:spPr>
            <a:xfrm>
              <a:off x="4000784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2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30" name="爱设计-7-6">
              <a:extLst>
                <a:ext uri="{FF2B5EF4-FFF2-40B4-BE49-F238E27FC236}">
                  <a16:creationId xmlns:a16="http://schemas.microsoft.com/office/drawing/2014/main" id="{B49E0752-66B8-6C1B-F66C-7C9733724BF0}"/>
                </a:ext>
              </a:extLst>
            </p:cNvPr>
            <p:cNvSpPr/>
            <p:nvPr/>
          </p:nvSpPr>
          <p:spPr>
            <a:xfrm>
              <a:off x="4259115" y="2639320"/>
              <a:ext cx="427702" cy="395654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sp>
        <p:nvSpPr>
          <p:cNvPr id="31" name="爱设计-8">
            <a:extLst>
              <a:ext uri="{FF2B5EF4-FFF2-40B4-BE49-F238E27FC236}">
                <a16:creationId xmlns:a16="http://schemas.microsoft.com/office/drawing/2014/main" id="{ED7C8E02-7777-2AD3-47EC-1ADA3F41AAE3}"/>
              </a:ext>
            </a:extLst>
          </p:cNvPr>
          <p:cNvSpPr txBox="1"/>
          <p:nvPr/>
        </p:nvSpPr>
        <p:spPr>
          <a:xfrm>
            <a:off x="628602" y="5806800"/>
            <a:ext cx="10517818" cy="42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+mn-ea"/>
                <a:cs typeface="OPPOSans R" panose="00020600040101010101" pitchFamily="18" charset="-122"/>
              </a:rPr>
              <a:t>好的工作思维，在一定程度上能让工作更高效，有利于个人成长、升职、发展和突破瓶颈。</a:t>
            </a:r>
          </a:p>
        </p:txBody>
      </p:sp>
      <p:sp>
        <p:nvSpPr>
          <p:cNvPr id="32" name="爱设计-9">
            <a:extLst>
              <a:ext uri="{FF2B5EF4-FFF2-40B4-BE49-F238E27FC236}">
                <a16:creationId xmlns:a16="http://schemas.microsoft.com/office/drawing/2014/main" id="{0B8557D8-F62B-B35D-5A05-F8CC5655FE1E}"/>
              </a:ext>
            </a:extLst>
          </p:cNvPr>
          <p:cNvSpPr txBox="1"/>
          <p:nvPr/>
        </p:nvSpPr>
        <p:spPr>
          <a:xfrm flipH="1">
            <a:off x="724864" y="1637859"/>
            <a:ext cx="1231106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基本原则</a:t>
            </a:r>
            <a:endParaRPr lang="zh-CN" altLang="en-US" sz="2400" dirty="0">
              <a:solidFill>
                <a:schemeClr val="accent1"/>
              </a:solidFill>
              <a:effectLst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33" name="爱设计-10">
            <a:extLst>
              <a:ext uri="{FF2B5EF4-FFF2-40B4-BE49-F238E27FC236}">
                <a16:creationId xmlns:a16="http://schemas.microsoft.com/office/drawing/2014/main" id="{7C171EA7-C524-C963-C06D-EF134C475F91}"/>
              </a:ext>
            </a:extLst>
          </p:cNvPr>
          <p:cNvSpPr txBox="1"/>
          <p:nvPr/>
        </p:nvSpPr>
        <p:spPr>
          <a:xfrm flipH="1">
            <a:off x="724864" y="5437468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指标</a:t>
            </a:r>
            <a:endParaRPr lang="zh-CN" altLang="en-US" sz="2400" dirty="0">
              <a:solidFill>
                <a:schemeClr val="accent2"/>
              </a:solidFill>
              <a:effectLst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cxnSp>
        <p:nvCxnSpPr>
          <p:cNvPr id="34" name="爱设计-11">
            <a:extLst>
              <a:ext uri="{FF2B5EF4-FFF2-40B4-BE49-F238E27FC236}">
                <a16:creationId xmlns:a16="http://schemas.microsoft.com/office/drawing/2014/main" id="{CFE770BC-592F-07C9-6BB1-0A7AE22FCBD9}"/>
              </a:ext>
            </a:extLst>
          </p:cNvPr>
          <p:cNvCxnSpPr>
            <a:cxnSpLocks/>
          </p:cNvCxnSpPr>
          <p:nvPr/>
        </p:nvCxnSpPr>
        <p:spPr>
          <a:xfrm>
            <a:off x="2295131" y="1808476"/>
            <a:ext cx="89434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爱设计-12">
            <a:extLst>
              <a:ext uri="{FF2B5EF4-FFF2-40B4-BE49-F238E27FC236}">
                <a16:creationId xmlns:a16="http://schemas.microsoft.com/office/drawing/2014/main" id="{455FC721-C1E1-0263-922D-EB70E3C73ED9}"/>
              </a:ext>
            </a:extLst>
          </p:cNvPr>
          <p:cNvCxnSpPr>
            <a:cxnSpLocks/>
          </p:cNvCxnSpPr>
          <p:nvPr/>
        </p:nvCxnSpPr>
        <p:spPr>
          <a:xfrm>
            <a:off x="1494369" y="5611361"/>
            <a:ext cx="974417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1544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没有 AI 时，产品经理卡在哪里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Pain Points Without AI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爱设计-4">
            <a:extLst>
              <a:ext uri="{FF2B5EF4-FFF2-40B4-BE49-F238E27FC236}">
                <a16:creationId xmlns:a16="http://schemas.microsoft.com/office/drawing/2014/main" id="{9010BC5F-00A9-4A54-8D60-F50EE4518833}"/>
              </a:ext>
            </a:extLst>
          </p:cNvPr>
          <p:cNvSpPr txBox="1"/>
          <p:nvPr/>
        </p:nvSpPr>
        <p:spPr>
          <a:xfrm>
            <a:off x="2491628" y="1766042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需求零散</a:t>
            </a:r>
          </a:p>
        </p:txBody>
      </p:sp>
      <p:sp>
        <p:nvSpPr>
          <p:cNvPr id="3" name="爱设计-5">
            <a:extLst>
              <a:ext uri="{FF2B5EF4-FFF2-40B4-BE49-F238E27FC236}">
                <a16:creationId xmlns:a16="http://schemas.microsoft.com/office/drawing/2014/main" id="{6DBE4B51-92C0-DA54-C807-80BF3EE57DDA}"/>
              </a:ext>
            </a:extLst>
          </p:cNvPr>
          <p:cNvSpPr txBox="1"/>
          <p:nvPr/>
        </p:nvSpPr>
        <p:spPr>
          <a:xfrm>
            <a:off x="2491629" y="2083344"/>
            <a:ext cx="2675880" cy="119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原始需求跨多轮对话分散，前后补充多，容易漏。</a:t>
            </a:r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C1F60ED9-E692-2BF6-5B8F-C4D4B80BB861}"/>
              </a:ext>
            </a:extLst>
          </p:cNvPr>
          <p:cNvSpPr txBox="1"/>
          <p:nvPr/>
        </p:nvSpPr>
        <p:spPr>
          <a:xfrm>
            <a:off x="1214495" y="1893916"/>
            <a:ext cx="61266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t>01</a:t>
            </a:r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364CC2B4-96F1-2F73-57A6-992D7D7A3D1C}"/>
              </a:ext>
            </a:extLst>
          </p:cNvPr>
          <p:cNvSpPr/>
          <p:nvPr/>
        </p:nvSpPr>
        <p:spPr>
          <a:xfrm>
            <a:off x="2089546" y="2054898"/>
            <a:ext cx="139700" cy="13970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7D34E3A9-50E6-8BE8-AEF0-912C5D9B6317}"/>
              </a:ext>
            </a:extLst>
          </p:cNvPr>
          <p:cNvSpPr txBox="1"/>
          <p:nvPr/>
        </p:nvSpPr>
        <p:spPr>
          <a:xfrm>
            <a:off x="1214494" y="3623292"/>
            <a:ext cx="67197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a:defRPr>
            </a:lvl1pPr>
          </a:lstStyle>
          <a:p>
            <a:r>
              <a:t>02</a:t>
            </a:r>
          </a:p>
        </p:txBody>
      </p:sp>
      <p:sp>
        <p:nvSpPr>
          <p:cNvPr id="10" name="爱设计-9">
            <a:extLst>
              <a:ext uri="{FF2B5EF4-FFF2-40B4-BE49-F238E27FC236}">
                <a16:creationId xmlns:a16="http://schemas.microsoft.com/office/drawing/2014/main" id="{F9F95315-266E-F116-ABCE-802246D53E13}"/>
              </a:ext>
            </a:extLst>
          </p:cNvPr>
          <p:cNvSpPr txBox="1"/>
          <p:nvPr/>
        </p:nvSpPr>
        <p:spPr>
          <a:xfrm>
            <a:off x="2491628" y="3495418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材料打架</a:t>
            </a:r>
          </a:p>
        </p:txBody>
      </p:sp>
      <p:sp>
        <p:nvSpPr>
          <p:cNvPr id="11" name="爱设计-10">
            <a:extLst>
              <a:ext uri="{FF2B5EF4-FFF2-40B4-BE49-F238E27FC236}">
                <a16:creationId xmlns:a16="http://schemas.microsoft.com/office/drawing/2014/main" id="{596C29C9-6785-F240-38B8-C0A75B07252D}"/>
              </a:ext>
            </a:extLst>
          </p:cNvPr>
          <p:cNvSpPr txBox="1"/>
          <p:nvPr/>
        </p:nvSpPr>
        <p:spPr>
          <a:xfrm>
            <a:off x="2491629" y="3812720"/>
            <a:ext cx="2675880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原始需求、代码、PRD 经常不在一个口径上。</a:t>
            </a:r>
          </a:p>
        </p:txBody>
      </p:sp>
      <p:sp>
        <p:nvSpPr>
          <p:cNvPr id="12" name="爱设计-11">
            <a:extLst>
              <a:ext uri="{FF2B5EF4-FFF2-40B4-BE49-F238E27FC236}">
                <a16:creationId xmlns:a16="http://schemas.microsoft.com/office/drawing/2014/main" id="{F9A45873-4059-B7C6-623F-EA4E1A03C30E}"/>
              </a:ext>
            </a:extLst>
          </p:cNvPr>
          <p:cNvSpPr/>
          <p:nvPr/>
        </p:nvSpPr>
        <p:spPr>
          <a:xfrm>
            <a:off x="2089546" y="3784274"/>
            <a:ext cx="139700" cy="13970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3" name="爱设计-12">
            <a:extLst>
              <a:ext uri="{FF2B5EF4-FFF2-40B4-BE49-F238E27FC236}">
                <a16:creationId xmlns:a16="http://schemas.microsoft.com/office/drawing/2014/main" id="{6762D838-D1F2-71CF-9644-0408EE7C6ECF}"/>
              </a:ext>
            </a:extLst>
          </p:cNvPr>
          <p:cNvSpPr txBox="1"/>
          <p:nvPr/>
        </p:nvSpPr>
        <p:spPr>
          <a:xfrm>
            <a:off x="1214494" y="5352667"/>
            <a:ext cx="67197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</a:lstStyle>
          <a:p>
            <a:r>
              <a:t>03</a:t>
            </a:r>
          </a:p>
        </p:txBody>
      </p:sp>
      <p:sp>
        <p:nvSpPr>
          <p:cNvPr id="14" name="爱设计-13">
            <a:extLst>
              <a:ext uri="{FF2B5EF4-FFF2-40B4-BE49-F238E27FC236}">
                <a16:creationId xmlns:a16="http://schemas.microsoft.com/office/drawing/2014/main" id="{78F5EB3B-AE7F-5076-F54F-A5CBD54831DC}"/>
              </a:ext>
            </a:extLst>
          </p:cNvPr>
          <p:cNvSpPr txBox="1"/>
          <p:nvPr/>
        </p:nvSpPr>
        <p:spPr>
          <a:xfrm>
            <a:off x="2491628" y="5224793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联动很碎</a:t>
            </a:r>
          </a:p>
        </p:txBody>
      </p:sp>
      <p:sp>
        <p:nvSpPr>
          <p:cNvPr id="15" name="爱设计-14">
            <a:extLst>
              <a:ext uri="{FF2B5EF4-FFF2-40B4-BE49-F238E27FC236}">
                <a16:creationId xmlns:a16="http://schemas.microsoft.com/office/drawing/2014/main" id="{057BC610-D875-E8BE-8BC8-1CE493B460DA}"/>
              </a:ext>
            </a:extLst>
          </p:cNvPr>
          <p:cNvSpPr txBox="1"/>
          <p:nvPr/>
        </p:nvSpPr>
        <p:spPr>
          <a:xfrm>
            <a:off x="2491629" y="5542095"/>
            <a:ext cx="2675880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原型、文档、规则要同步回写，机械活很多。</a:t>
            </a:r>
          </a:p>
        </p:txBody>
      </p:sp>
      <p:sp>
        <p:nvSpPr>
          <p:cNvPr id="16" name="爱设计-15">
            <a:extLst>
              <a:ext uri="{FF2B5EF4-FFF2-40B4-BE49-F238E27FC236}">
                <a16:creationId xmlns:a16="http://schemas.microsoft.com/office/drawing/2014/main" id="{F89F6B39-781E-D9EA-8A3A-C148DB4A6D06}"/>
              </a:ext>
            </a:extLst>
          </p:cNvPr>
          <p:cNvSpPr/>
          <p:nvPr/>
        </p:nvSpPr>
        <p:spPr>
          <a:xfrm>
            <a:off x="2089546" y="5513649"/>
            <a:ext cx="139700" cy="139700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0000">
                <a:schemeClr val="accent3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cxnSp>
        <p:nvCxnSpPr>
          <p:cNvPr id="17" name="爱设计-16">
            <a:extLst>
              <a:ext uri="{FF2B5EF4-FFF2-40B4-BE49-F238E27FC236}">
                <a16:creationId xmlns:a16="http://schemas.microsoft.com/office/drawing/2014/main" id="{27B8F4EA-6653-B0B8-3B3E-D0629B393B09}"/>
              </a:ext>
            </a:extLst>
          </p:cNvPr>
          <p:cNvCxnSpPr>
            <a:stCxn id="5" idx="4"/>
            <a:endCxn id="12" idx="0"/>
          </p:cNvCxnSpPr>
          <p:nvPr/>
        </p:nvCxnSpPr>
        <p:spPr>
          <a:xfrm>
            <a:off x="2159396" y="2194598"/>
            <a:ext cx="0" cy="15896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爱设计-17">
            <a:extLst>
              <a:ext uri="{FF2B5EF4-FFF2-40B4-BE49-F238E27FC236}">
                <a16:creationId xmlns:a16="http://schemas.microsoft.com/office/drawing/2014/main" id="{C3781861-E39F-32D7-5521-B4B55FD62EB1}"/>
              </a:ext>
            </a:extLst>
          </p:cNvPr>
          <p:cNvCxnSpPr>
            <a:stCxn id="12" idx="4"/>
            <a:endCxn id="16" idx="0"/>
          </p:cNvCxnSpPr>
          <p:nvPr/>
        </p:nvCxnSpPr>
        <p:spPr>
          <a:xfrm>
            <a:off x="2159396" y="3923974"/>
            <a:ext cx="0" cy="15896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爱设计-18">
            <a:extLst>
              <a:ext uri="{FF2B5EF4-FFF2-40B4-BE49-F238E27FC236}">
                <a16:creationId xmlns:a16="http://schemas.microsoft.com/office/drawing/2014/main" id="{5F970E28-1AA5-6A6C-50F1-9643F999D159}"/>
              </a:ext>
            </a:extLst>
          </p:cNvPr>
          <p:cNvSpPr/>
          <p:nvPr/>
        </p:nvSpPr>
        <p:spPr>
          <a:xfrm>
            <a:off x="5831973" y="1472547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2"/>
            <a:srcRect/>
            <a:tile tx="0" ty="0" sx="100000" sy="100000" flip="none" algn="ctr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爱设计-19">
            <a:extLst>
              <a:ext uri="{FF2B5EF4-FFF2-40B4-BE49-F238E27FC236}">
                <a16:creationId xmlns:a16="http://schemas.microsoft.com/office/drawing/2014/main" id="{2BACDCE2-A851-2D32-4D04-658A15A58307}"/>
              </a:ext>
            </a:extLst>
          </p:cNvPr>
          <p:cNvSpPr/>
          <p:nvPr/>
        </p:nvSpPr>
        <p:spPr>
          <a:xfrm>
            <a:off x="5831973" y="4931298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3"/>
            <a:srcRect/>
            <a:tile tx="0" ty="0" sx="100000" sy="100000" flip="none" algn="bl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爱设计-20">
            <a:extLst>
              <a:ext uri="{FF2B5EF4-FFF2-40B4-BE49-F238E27FC236}">
                <a16:creationId xmlns:a16="http://schemas.microsoft.com/office/drawing/2014/main" id="{39E20FA4-073D-1DB3-F2FA-84910EE13192}"/>
              </a:ext>
            </a:extLst>
          </p:cNvPr>
          <p:cNvSpPr/>
          <p:nvPr/>
        </p:nvSpPr>
        <p:spPr>
          <a:xfrm>
            <a:off x="5831973" y="3201922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3"/>
            <a:srcRect/>
            <a:tile tx="0" ty="0" sx="100000" sy="100000" flip="none" algn="r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87258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为什么选这个项目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Why This Case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爱设计-4">
            <a:extLst>
              <a:ext uri="{FF2B5EF4-FFF2-40B4-BE49-F238E27FC236}">
                <a16:creationId xmlns:a16="http://schemas.microsoft.com/office/drawing/2014/main" id="{E91768D1-B841-9820-5974-6CC0EB2091B3}"/>
              </a:ext>
            </a:extLst>
          </p:cNvPr>
          <p:cNvSpPr/>
          <p:nvPr/>
        </p:nvSpPr>
        <p:spPr>
          <a:xfrm>
            <a:off x="1130917" y="18948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3" name="爱设计-5">
            <a:extLst>
              <a:ext uri="{FF2B5EF4-FFF2-40B4-BE49-F238E27FC236}">
                <a16:creationId xmlns:a16="http://schemas.microsoft.com/office/drawing/2014/main" id="{CB68337D-BA95-BC08-B981-DBE69631AD32}"/>
              </a:ext>
            </a:extLst>
          </p:cNvPr>
          <p:cNvSpPr/>
          <p:nvPr/>
        </p:nvSpPr>
        <p:spPr>
          <a:xfrm>
            <a:off x="4614513" y="18948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9B65629B-DF41-6EE9-C3EE-30EBD044A10B}"/>
              </a:ext>
            </a:extLst>
          </p:cNvPr>
          <p:cNvSpPr/>
          <p:nvPr/>
        </p:nvSpPr>
        <p:spPr>
          <a:xfrm>
            <a:off x="1130917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7E657B46-067C-DDD5-50A1-5053D5569E45}"/>
              </a:ext>
            </a:extLst>
          </p:cNvPr>
          <p:cNvSpPr/>
          <p:nvPr/>
        </p:nvSpPr>
        <p:spPr>
          <a:xfrm>
            <a:off x="4614513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6D35426E-7977-7CAE-CBF2-8998E64DC1BA}"/>
              </a:ext>
            </a:extLst>
          </p:cNvPr>
          <p:cNvSpPr/>
          <p:nvPr/>
        </p:nvSpPr>
        <p:spPr>
          <a:xfrm>
            <a:off x="8098110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0" name="爱设计-9">
            <a:extLst>
              <a:ext uri="{FF2B5EF4-FFF2-40B4-BE49-F238E27FC236}">
                <a16:creationId xmlns:a16="http://schemas.microsoft.com/office/drawing/2014/main" id="{8B5E5044-DF72-8CF8-1AA1-5833CFD47120}"/>
              </a:ext>
            </a:extLst>
          </p:cNvPr>
          <p:cNvSpPr txBox="1"/>
          <p:nvPr/>
        </p:nvSpPr>
        <p:spPr>
          <a:xfrm>
            <a:off x="1326274" y="2939882"/>
            <a:ext cx="2785748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不是从0到1，而是原有ERP迭代升级</a:t>
            </a:r>
          </a:p>
        </p:txBody>
      </p:sp>
      <p:sp>
        <p:nvSpPr>
          <p:cNvPr id="11" name="爱设计-10">
            <a:extLst>
              <a:ext uri="{FF2B5EF4-FFF2-40B4-BE49-F238E27FC236}">
                <a16:creationId xmlns:a16="http://schemas.microsoft.com/office/drawing/2014/main" id="{C560CAAC-56C1-252C-C56C-A4EA811E5E38}"/>
              </a:ext>
            </a:extLst>
          </p:cNvPr>
          <p:cNvSpPr txBox="1"/>
          <p:nvPr/>
        </p:nvSpPr>
        <p:spPr>
          <a:xfrm>
            <a:off x="1228773" y="2664701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NO.1</a:t>
            </a:r>
          </a:p>
        </p:txBody>
      </p:sp>
      <p:sp>
        <p:nvSpPr>
          <p:cNvPr id="12" name="爱设计-11">
            <a:extLst>
              <a:ext uri="{FF2B5EF4-FFF2-40B4-BE49-F238E27FC236}">
                <a16:creationId xmlns:a16="http://schemas.microsoft.com/office/drawing/2014/main" id="{E9BA4395-2B13-398B-80AE-D20406E7A493}"/>
              </a:ext>
            </a:extLst>
          </p:cNvPr>
          <p:cNvSpPr txBox="1"/>
          <p:nvPr/>
        </p:nvSpPr>
        <p:spPr>
          <a:xfrm>
            <a:off x="4828674" y="2939882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更接近大多数产品经理的真实工作场景</a:t>
            </a:r>
          </a:p>
        </p:txBody>
      </p:sp>
      <p:sp>
        <p:nvSpPr>
          <p:cNvPr id="13" name="爱设计-12">
            <a:extLst>
              <a:ext uri="{FF2B5EF4-FFF2-40B4-BE49-F238E27FC236}">
                <a16:creationId xmlns:a16="http://schemas.microsoft.com/office/drawing/2014/main" id="{20B4F061-474C-9F96-6221-D660428C5701}"/>
              </a:ext>
            </a:extLst>
          </p:cNvPr>
          <p:cNvSpPr txBox="1"/>
          <p:nvPr/>
        </p:nvSpPr>
        <p:spPr>
          <a:xfrm>
            <a:off x="1326274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原始需求、Codex对话、PRD、原型都有留痕</a:t>
            </a:r>
          </a:p>
        </p:txBody>
      </p:sp>
      <p:sp>
        <p:nvSpPr>
          <p:cNvPr id="14" name="爱设计-13">
            <a:extLst>
              <a:ext uri="{FF2B5EF4-FFF2-40B4-BE49-F238E27FC236}">
                <a16:creationId xmlns:a16="http://schemas.microsoft.com/office/drawing/2014/main" id="{BAD2614A-9368-1C64-9EC9-F575E26AF593}"/>
              </a:ext>
            </a:extLst>
          </p:cNvPr>
          <p:cNvSpPr txBox="1"/>
          <p:nvPr/>
        </p:nvSpPr>
        <p:spPr>
          <a:xfrm>
            <a:off x="4828674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能完整复盘 AI 的价值和边界</a:t>
            </a:r>
          </a:p>
        </p:txBody>
      </p:sp>
      <p:sp>
        <p:nvSpPr>
          <p:cNvPr id="15" name="爱设计-14">
            <a:extLst>
              <a:ext uri="{FF2B5EF4-FFF2-40B4-BE49-F238E27FC236}">
                <a16:creationId xmlns:a16="http://schemas.microsoft.com/office/drawing/2014/main" id="{B8EB9FD8-1439-0C4F-0638-122AB04BBC06}"/>
              </a:ext>
            </a:extLst>
          </p:cNvPr>
          <p:cNvSpPr txBox="1"/>
          <p:nvPr/>
        </p:nvSpPr>
        <p:spPr>
          <a:xfrm>
            <a:off x="8301488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难点不是想不出方案，而是怎么贴着现有系统收口</a:t>
            </a:r>
          </a:p>
        </p:txBody>
      </p:sp>
      <p:sp>
        <p:nvSpPr>
          <p:cNvPr id="16" name="爱设计-15">
            <a:extLst>
              <a:ext uri="{FF2B5EF4-FFF2-40B4-BE49-F238E27FC236}">
                <a16:creationId xmlns:a16="http://schemas.microsoft.com/office/drawing/2014/main" id="{76E0B371-B2ED-3FB6-5447-5AEBA70B7F06}"/>
              </a:ext>
            </a:extLst>
          </p:cNvPr>
          <p:cNvSpPr/>
          <p:nvPr/>
        </p:nvSpPr>
        <p:spPr>
          <a:xfrm>
            <a:off x="8098110" y="1883243"/>
            <a:ext cx="3106232" cy="195982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7" name="爱设计-16">
            <a:extLst>
              <a:ext uri="{FF2B5EF4-FFF2-40B4-BE49-F238E27FC236}">
                <a16:creationId xmlns:a16="http://schemas.microsoft.com/office/drawing/2014/main" id="{07C5ED6A-9BE6-8A2B-D341-E3CEAD50C5E7}"/>
              </a:ext>
            </a:extLst>
          </p:cNvPr>
          <p:cNvSpPr/>
          <p:nvPr/>
        </p:nvSpPr>
        <p:spPr>
          <a:xfrm>
            <a:off x="3608432" y="2039289"/>
            <a:ext cx="418468" cy="394415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8" name="爱设计-17">
            <a:extLst>
              <a:ext uri="{FF2B5EF4-FFF2-40B4-BE49-F238E27FC236}">
                <a16:creationId xmlns:a16="http://schemas.microsoft.com/office/drawing/2014/main" id="{C5541D3A-F4ED-CFF2-9DDC-147E3E66A79D}"/>
              </a:ext>
            </a:extLst>
          </p:cNvPr>
          <p:cNvSpPr/>
          <p:nvPr/>
        </p:nvSpPr>
        <p:spPr>
          <a:xfrm>
            <a:off x="7133191" y="2046803"/>
            <a:ext cx="418468" cy="379389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9" name="爱设计-18">
            <a:extLst>
              <a:ext uri="{FF2B5EF4-FFF2-40B4-BE49-F238E27FC236}">
                <a16:creationId xmlns:a16="http://schemas.microsoft.com/office/drawing/2014/main" id="{329F303B-B262-430E-0E4F-525497DE6C00}"/>
              </a:ext>
            </a:extLst>
          </p:cNvPr>
          <p:cNvSpPr/>
          <p:nvPr/>
        </p:nvSpPr>
        <p:spPr>
          <a:xfrm>
            <a:off x="3608463" y="4233220"/>
            <a:ext cx="418406" cy="418468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0" name="爱设计-19">
            <a:extLst>
              <a:ext uri="{FF2B5EF4-FFF2-40B4-BE49-F238E27FC236}">
                <a16:creationId xmlns:a16="http://schemas.microsoft.com/office/drawing/2014/main" id="{0A29E15F-31C4-560A-9C57-284FE61DFB24}"/>
              </a:ext>
            </a:extLst>
          </p:cNvPr>
          <p:cNvSpPr/>
          <p:nvPr/>
        </p:nvSpPr>
        <p:spPr>
          <a:xfrm>
            <a:off x="7149270" y="4233220"/>
            <a:ext cx="386310" cy="418468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1" name="爱设计-20">
            <a:extLst>
              <a:ext uri="{FF2B5EF4-FFF2-40B4-BE49-F238E27FC236}">
                <a16:creationId xmlns:a16="http://schemas.microsoft.com/office/drawing/2014/main" id="{E7E61738-B56A-E8C5-30F9-52CD927EB9BB}"/>
              </a:ext>
            </a:extLst>
          </p:cNvPr>
          <p:cNvSpPr/>
          <p:nvPr/>
        </p:nvSpPr>
        <p:spPr>
          <a:xfrm>
            <a:off x="10583647" y="4239971"/>
            <a:ext cx="418468" cy="404967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2" name="爱设计-21">
            <a:extLst>
              <a:ext uri="{FF2B5EF4-FFF2-40B4-BE49-F238E27FC236}">
                <a16:creationId xmlns:a16="http://schemas.microsoft.com/office/drawing/2014/main" id="{2CBBB812-9968-0901-EA44-1067B4EB0C9D}"/>
              </a:ext>
            </a:extLst>
          </p:cNvPr>
          <p:cNvSpPr txBox="1"/>
          <p:nvPr/>
        </p:nvSpPr>
        <p:spPr>
          <a:xfrm>
            <a:off x="4742979" y="2664701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NO.2</a:t>
            </a:r>
          </a:p>
        </p:txBody>
      </p:sp>
      <p:sp>
        <p:nvSpPr>
          <p:cNvPr id="23" name="爱设计-22">
            <a:extLst>
              <a:ext uri="{FF2B5EF4-FFF2-40B4-BE49-F238E27FC236}">
                <a16:creationId xmlns:a16="http://schemas.microsoft.com/office/drawing/2014/main" id="{236B1593-F51B-8909-F9E0-7739FFE70EF5}"/>
              </a:ext>
            </a:extLst>
          </p:cNvPr>
          <p:cNvSpPr txBox="1"/>
          <p:nvPr/>
        </p:nvSpPr>
        <p:spPr>
          <a:xfrm>
            <a:off x="1228773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NO.3</a:t>
            </a:r>
          </a:p>
        </p:txBody>
      </p:sp>
      <p:sp>
        <p:nvSpPr>
          <p:cNvPr id="24" name="爱设计-23">
            <a:extLst>
              <a:ext uri="{FF2B5EF4-FFF2-40B4-BE49-F238E27FC236}">
                <a16:creationId xmlns:a16="http://schemas.microsoft.com/office/drawing/2014/main" id="{A1A2FB40-094F-58B6-9D5D-30FEE79AD5FB}"/>
              </a:ext>
            </a:extLst>
          </p:cNvPr>
          <p:cNvSpPr txBox="1"/>
          <p:nvPr/>
        </p:nvSpPr>
        <p:spPr>
          <a:xfrm>
            <a:off x="4742979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NO.4</a:t>
            </a:r>
          </a:p>
        </p:txBody>
      </p:sp>
      <p:sp>
        <p:nvSpPr>
          <p:cNvPr id="25" name="爱设计-24">
            <a:extLst>
              <a:ext uri="{FF2B5EF4-FFF2-40B4-BE49-F238E27FC236}">
                <a16:creationId xmlns:a16="http://schemas.microsoft.com/office/drawing/2014/main" id="{DCDCB86C-5E3D-1A85-388A-26685E41259D}"/>
              </a:ext>
            </a:extLst>
          </p:cNvPr>
          <p:cNvSpPr txBox="1"/>
          <p:nvPr/>
        </p:nvSpPr>
        <p:spPr>
          <a:xfrm>
            <a:off x="8257186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NO.5</a:t>
            </a:r>
          </a:p>
        </p:txBody>
      </p:sp>
      <p:sp>
        <p:nvSpPr>
          <p:cNvPr id="26" name="爱设计-25">
            <a:extLst>
              <a:ext uri="{FF2B5EF4-FFF2-40B4-BE49-F238E27FC236}">
                <a16:creationId xmlns:a16="http://schemas.microsoft.com/office/drawing/2014/main" id="{02BEC469-2372-5D2A-097D-9DF53F84DAE3}"/>
              </a:ext>
            </a:extLst>
          </p:cNvPr>
          <p:cNvSpPr txBox="1"/>
          <p:nvPr/>
        </p:nvSpPr>
        <p:spPr>
          <a:xfrm>
            <a:off x="8301488" y="2872540"/>
            <a:ext cx="2785748" cy="56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r>
              <a:t>五个判断</a:t>
            </a:r>
          </a:p>
        </p:txBody>
      </p:sp>
      <p:sp>
        <p:nvSpPr>
          <p:cNvPr id="27" name="爱设计-26">
            <a:extLst>
              <a:ext uri="{FF2B5EF4-FFF2-40B4-BE49-F238E27FC236}">
                <a16:creationId xmlns:a16="http://schemas.microsoft.com/office/drawing/2014/main" id="{8202DEF3-5245-08CE-B29C-B6F3B0F53848}"/>
              </a:ext>
            </a:extLst>
          </p:cNvPr>
          <p:cNvSpPr/>
          <p:nvPr/>
        </p:nvSpPr>
        <p:spPr>
          <a:xfrm>
            <a:off x="8330063" y="2729788"/>
            <a:ext cx="839337" cy="108274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AI 是怎么介入的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How AI Was Used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爱设计-4">
            <a:extLst>
              <a:ext uri="{FF2B5EF4-FFF2-40B4-BE49-F238E27FC236}">
                <a16:creationId xmlns:a16="http://schemas.microsoft.com/office/drawing/2014/main" id="{7B0B93AC-EFAA-CE8A-8D4F-15054A2DD8DD}"/>
              </a:ext>
            </a:extLst>
          </p:cNvPr>
          <p:cNvSpPr/>
          <p:nvPr/>
        </p:nvSpPr>
        <p:spPr>
          <a:xfrm>
            <a:off x="6355117" y="2021109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38" name="爱设计-5">
            <a:extLst>
              <a:ext uri="{FF2B5EF4-FFF2-40B4-BE49-F238E27FC236}">
                <a16:creationId xmlns:a16="http://schemas.microsoft.com/office/drawing/2014/main" id="{CA052AAD-1102-F9CE-B6F2-46C9A55C12AA}"/>
              </a:ext>
            </a:extLst>
          </p:cNvPr>
          <p:cNvSpPr/>
          <p:nvPr/>
        </p:nvSpPr>
        <p:spPr>
          <a:xfrm>
            <a:off x="1006146" y="2021109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39" name="爱设计-6">
            <a:extLst>
              <a:ext uri="{FF2B5EF4-FFF2-40B4-BE49-F238E27FC236}">
                <a16:creationId xmlns:a16="http://schemas.microsoft.com/office/drawing/2014/main" id="{4D9F8DB3-4F43-D372-11EB-3F476FF18508}"/>
              </a:ext>
            </a:extLst>
          </p:cNvPr>
          <p:cNvSpPr/>
          <p:nvPr/>
        </p:nvSpPr>
        <p:spPr>
          <a:xfrm>
            <a:off x="1006146" y="4244638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爱设计-7">
            <a:extLst>
              <a:ext uri="{FF2B5EF4-FFF2-40B4-BE49-F238E27FC236}">
                <a16:creationId xmlns:a16="http://schemas.microsoft.com/office/drawing/2014/main" id="{968F9279-CC82-7CD6-7E81-44C7FA5F94DD}"/>
              </a:ext>
            </a:extLst>
          </p:cNvPr>
          <p:cNvSpPr/>
          <p:nvPr/>
        </p:nvSpPr>
        <p:spPr>
          <a:xfrm>
            <a:off x="6355117" y="4244637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1" name="爱设计-8">
            <a:extLst>
              <a:ext uri="{FF2B5EF4-FFF2-40B4-BE49-F238E27FC236}">
                <a16:creationId xmlns:a16="http://schemas.microsoft.com/office/drawing/2014/main" id="{E8AB73B9-8933-C91F-D966-5983EEAF9F3E}"/>
              </a:ext>
            </a:extLst>
          </p:cNvPr>
          <p:cNvSpPr/>
          <p:nvPr/>
        </p:nvSpPr>
        <p:spPr>
          <a:xfrm>
            <a:off x="706120" y="1721082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01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2" name="爱设计-9">
            <a:extLst>
              <a:ext uri="{FF2B5EF4-FFF2-40B4-BE49-F238E27FC236}">
                <a16:creationId xmlns:a16="http://schemas.microsoft.com/office/drawing/2014/main" id="{98F31E1E-74CC-7A0F-A1A7-7E19CEDA03E5}"/>
              </a:ext>
            </a:extLst>
          </p:cNvPr>
          <p:cNvSpPr/>
          <p:nvPr/>
        </p:nvSpPr>
        <p:spPr>
          <a:xfrm>
            <a:off x="706120" y="3961226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03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3" name="爱设计-10">
            <a:extLst>
              <a:ext uri="{FF2B5EF4-FFF2-40B4-BE49-F238E27FC236}">
                <a16:creationId xmlns:a16="http://schemas.microsoft.com/office/drawing/2014/main" id="{9897CB25-ECF0-D31A-2695-A3047DAB01DE}"/>
              </a:ext>
            </a:extLst>
          </p:cNvPr>
          <p:cNvSpPr/>
          <p:nvPr/>
        </p:nvSpPr>
        <p:spPr>
          <a:xfrm>
            <a:off x="10898510" y="3961226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04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4" name="爱设计-11">
            <a:extLst>
              <a:ext uri="{FF2B5EF4-FFF2-40B4-BE49-F238E27FC236}">
                <a16:creationId xmlns:a16="http://schemas.microsoft.com/office/drawing/2014/main" id="{A5A2C6CC-7304-436C-662A-64E21359B2C2}"/>
              </a:ext>
            </a:extLst>
          </p:cNvPr>
          <p:cNvSpPr txBox="1"/>
          <p:nvPr/>
        </p:nvSpPr>
        <p:spPr>
          <a:xfrm>
            <a:off x="1313817" y="2228019"/>
            <a:ext cx="2031325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需求整理</a:t>
            </a:r>
          </a:p>
        </p:txBody>
      </p:sp>
      <p:sp>
        <p:nvSpPr>
          <p:cNvPr id="45" name="爱设计-12">
            <a:extLst>
              <a:ext uri="{FF2B5EF4-FFF2-40B4-BE49-F238E27FC236}">
                <a16:creationId xmlns:a16="http://schemas.microsoft.com/office/drawing/2014/main" id="{1EB414AB-4D8D-8DD2-D120-8414ED0BC4EE}"/>
              </a:ext>
            </a:extLst>
          </p:cNvPr>
          <p:cNvSpPr txBox="1"/>
          <p:nvPr/>
        </p:nvSpPr>
        <p:spPr>
          <a:xfrm>
            <a:off x="1313817" y="2748929"/>
            <a:ext cx="3570888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先把零散需求收成结构草稿。</a:t>
            </a:r>
          </a:p>
        </p:txBody>
      </p:sp>
      <p:sp>
        <p:nvSpPr>
          <p:cNvPr id="46" name="爱设计-13">
            <a:extLst>
              <a:ext uri="{FF2B5EF4-FFF2-40B4-BE49-F238E27FC236}">
                <a16:creationId xmlns:a16="http://schemas.microsoft.com/office/drawing/2014/main" id="{F7F0CD6B-538B-3D8D-9A92-E7AF52E4CE90}"/>
              </a:ext>
            </a:extLst>
          </p:cNvPr>
          <p:cNvSpPr txBox="1"/>
          <p:nvPr/>
        </p:nvSpPr>
        <p:spPr>
          <a:xfrm>
            <a:off x="1313817" y="4450342"/>
            <a:ext cx="1107996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三方对照</a:t>
            </a:r>
          </a:p>
        </p:txBody>
      </p:sp>
      <p:sp>
        <p:nvSpPr>
          <p:cNvPr id="47" name="爱设计-14">
            <a:extLst>
              <a:ext uri="{FF2B5EF4-FFF2-40B4-BE49-F238E27FC236}">
                <a16:creationId xmlns:a16="http://schemas.microsoft.com/office/drawing/2014/main" id="{156586B7-8ED1-286F-6A2F-EA09BAF9825A}"/>
              </a:ext>
            </a:extLst>
          </p:cNvPr>
          <p:cNvSpPr txBox="1"/>
          <p:nvPr/>
        </p:nvSpPr>
        <p:spPr>
          <a:xfrm>
            <a:off x="1313817" y="4971252"/>
            <a:ext cx="3570888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把原始需求、代码、PRD 放在一起高密度核查。</a:t>
            </a:r>
          </a:p>
        </p:txBody>
      </p:sp>
      <p:sp>
        <p:nvSpPr>
          <p:cNvPr id="48" name="爱设计-15">
            <a:extLst>
              <a:ext uri="{FF2B5EF4-FFF2-40B4-BE49-F238E27FC236}">
                <a16:creationId xmlns:a16="http://schemas.microsoft.com/office/drawing/2014/main" id="{BA169A23-F0D8-D76F-C08F-E57B35CD600A}"/>
              </a:ext>
            </a:extLst>
          </p:cNvPr>
          <p:cNvSpPr txBox="1"/>
          <p:nvPr/>
        </p:nvSpPr>
        <p:spPr>
          <a:xfrm>
            <a:off x="6669846" y="4450342"/>
            <a:ext cx="1338828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联动同步</a:t>
            </a:r>
          </a:p>
        </p:txBody>
      </p:sp>
      <p:sp>
        <p:nvSpPr>
          <p:cNvPr id="49" name="爱设计-16">
            <a:extLst>
              <a:ext uri="{FF2B5EF4-FFF2-40B4-BE49-F238E27FC236}">
                <a16:creationId xmlns:a16="http://schemas.microsoft.com/office/drawing/2014/main" id="{9C29468E-8E58-4BAA-B2FE-D0EC8D2FCB32}"/>
              </a:ext>
            </a:extLst>
          </p:cNvPr>
          <p:cNvSpPr txBox="1"/>
          <p:nvPr/>
        </p:nvSpPr>
        <p:spPr>
          <a:xfrm>
            <a:off x="6669846" y="4971252"/>
            <a:ext cx="3570888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规则拍板后，同步回写文档和原型。</a:t>
            </a:r>
          </a:p>
        </p:txBody>
      </p:sp>
      <p:sp>
        <p:nvSpPr>
          <p:cNvPr id="50" name="爱设计-17">
            <a:extLst>
              <a:ext uri="{FF2B5EF4-FFF2-40B4-BE49-F238E27FC236}">
                <a16:creationId xmlns:a16="http://schemas.microsoft.com/office/drawing/2014/main" id="{31DA0D61-0467-4387-2A65-DB17D1C49EC9}"/>
              </a:ext>
            </a:extLst>
          </p:cNvPr>
          <p:cNvSpPr txBox="1"/>
          <p:nvPr/>
        </p:nvSpPr>
        <p:spPr>
          <a:xfrm>
            <a:off x="6669846" y="2228019"/>
            <a:ext cx="1569660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问题暴露</a:t>
            </a:r>
          </a:p>
        </p:txBody>
      </p:sp>
      <p:sp>
        <p:nvSpPr>
          <p:cNvPr id="51" name="爱设计-18">
            <a:extLst>
              <a:ext uri="{FF2B5EF4-FFF2-40B4-BE49-F238E27FC236}">
                <a16:creationId xmlns:a16="http://schemas.microsoft.com/office/drawing/2014/main" id="{8E0CFC25-E5E6-FB65-CD0B-1B0DB57E0162}"/>
              </a:ext>
            </a:extLst>
          </p:cNvPr>
          <p:cNvSpPr txBox="1"/>
          <p:nvPr/>
        </p:nvSpPr>
        <p:spPr>
          <a:xfrm>
            <a:off x="6669846" y="2748929"/>
            <a:ext cx="3570888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更早暴露冲突、遗漏和不一致。</a:t>
            </a:r>
          </a:p>
        </p:txBody>
      </p:sp>
      <p:sp>
        <p:nvSpPr>
          <p:cNvPr id="52" name="爱设计-19">
            <a:extLst>
              <a:ext uri="{FF2B5EF4-FFF2-40B4-BE49-F238E27FC236}">
                <a16:creationId xmlns:a16="http://schemas.microsoft.com/office/drawing/2014/main" id="{74965828-BE83-7557-DC9D-F281AB5795F4}"/>
              </a:ext>
            </a:extLst>
          </p:cNvPr>
          <p:cNvSpPr/>
          <p:nvPr/>
        </p:nvSpPr>
        <p:spPr>
          <a:xfrm>
            <a:off x="10898510" y="1721082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02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cxnSp>
        <p:nvCxnSpPr>
          <p:cNvPr id="53" name="爱设计-20">
            <a:extLst>
              <a:ext uri="{FF2B5EF4-FFF2-40B4-BE49-F238E27FC236}">
                <a16:creationId xmlns:a16="http://schemas.microsoft.com/office/drawing/2014/main" id="{8CEFEFC1-1B31-0D37-94FA-9F28C07C0AFA}"/>
              </a:ext>
            </a:extLst>
          </p:cNvPr>
          <p:cNvCxnSpPr>
            <a:cxnSpLocks/>
          </p:cNvCxnSpPr>
          <p:nvPr/>
        </p:nvCxnSpPr>
        <p:spPr>
          <a:xfrm>
            <a:off x="1397511" y="2636657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爱设计-21">
            <a:extLst>
              <a:ext uri="{FF2B5EF4-FFF2-40B4-BE49-F238E27FC236}">
                <a16:creationId xmlns:a16="http://schemas.microsoft.com/office/drawing/2014/main" id="{46069AB1-0813-29FB-D690-4165F87CDF6E}"/>
              </a:ext>
            </a:extLst>
          </p:cNvPr>
          <p:cNvCxnSpPr>
            <a:cxnSpLocks/>
          </p:cNvCxnSpPr>
          <p:nvPr/>
        </p:nvCxnSpPr>
        <p:spPr>
          <a:xfrm>
            <a:off x="1397511" y="4868550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爱设计-22">
            <a:extLst>
              <a:ext uri="{FF2B5EF4-FFF2-40B4-BE49-F238E27FC236}">
                <a16:creationId xmlns:a16="http://schemas.microsoft.com/office/drawing/2014/main" id="{2A70DBC3-A24E-54CE-0612-973AA6989B01}"/>
              </a:ext>
            </a:extLst>
          </p:cNvPr>
          <p:cNvCxnSpPr>
            <a:cxnSpLocks/>
          </p:cNvCxnSpPr>
          <p:nvPr/>
        </p:nvCxnSpPr>
        <p:spPr>
          <a:xfrm>
            <a:off x="6794523" y="4868550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爱设计-23">
            <a:extLst>
              <a:ext uri="{FF2B5EF4-FFF2-40B4-BE49-F238E27FC236}">
                <a16:creationId xmlns:a16="http://schemas.microsoft.com/office/drawing/2014/main" id="{C02A5854-940A-AB96-4767-4717C11F09B0}"/>
              </a:ext>
            </a:extLst>
          </p:cNvPr>
          <p:cNvCxnSpPr>
            <a:cxnSpLocks/>
          </p:cNvCxnSpPr>
          <p:nvPr/>
        </p:nvCxnSpPr>
        <p:spPr>
          <a:xfrm>
            <a:off x="6794523" y="2636657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爱设计-24">
            <a:extLst>
              <a:ext uri="{FF2B5EF4-FFF2-40B4-BE49-F238E27FC236}">
                <a16:creationId xmlns:a16="http://schemas.microsoft.com/office/drawing/2014/main" id="{19D7EDE1-39A1-F7A6-B5B1-69945DE5A112}"/>
              </a:ext>
            </a:extLst>
          </p:cNvPr>
          <p:cNvSpPr/>
          <p:nvPr/>
        </p:nvSpPr>
        <p:spPr>
          <a:xfrm>
            <a:off x="5048283" y="2642194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58" name="爱设计-25">
            <a:extLst>
              <a:ext uri="{FF2B5EF4-FFF2-40B4-BE49-F238E27FC236}">
                <a16:creationId xmlns:a16="http://schemas.microsoft.com/office/drawing/2014/main" id="{67D4FA3A-18A3-0EBB-AE08-F532B1835C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197111" y="2786194"/>
            <a:ext cx="242345" cy="252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59" name="爱设计-26">
            <a:extLst>
              <a:ext uri="{FF2B5EF4-FFF2-40B4-BE49-F238E27FC236}">
                <a16:creationId xmlns:a16="http://schemas.microsoft.com/office/drawing/2014/main" id="{4E2F918A-D91F-D908-A4D7-8FDDCCB094BC}"/>
              </a:ext>
            </a:extLst>
          </p:cNvPr>
          <p:cNvSpPr/>
          <p:nvPr/>
        </p:nvSpPr>
        <p:spPr>
          <a:xfrm>
            <a:off x="5048283" y="4865722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0" name="爱设计-27">
            <a:extLst>
              <a:ext uri="{FF2B5EF4-FFF2-40B4-BE49-F238E27FC236}">
                <a16:creationId xmlns:a16="http://schemas.microsoft.com/office/drawing/2014/main" id="{F4FCDFB8-483A-BC2E-4DDE-57179A4301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192283" y="5019164"/>
            <a:ext cx="252000" cy="23311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61" name="爱设计-28">
            <a:extLst>
              <a:ext uri="{FF2B5EF4-FFF2-40B4-BE49-F238E27FC236}">
                <a16:creationId xmlns:a16="http://schemas.microsoft.com/office/drawing/2014/main" id="{1AB15354-5672-D102-395B-7B83271A4950}"/>
              </a:ext>
            </a:extLst>
          </p:cNvPr>
          <p:cNvSpPr/>
          <p:nvPr/>
        </p:nvSpPr>
        <p:spPr>
          <a:xfrm>
            <a:off x="10362079" y="2632315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2" name="爱设计-29">
            <a:extLst>
              <a:ext uri="{FF2B5EF4-FFF2-40B4-BE49-F238E27FC236}">
                <a16:creationId xmlns:a16="http://schemas.microsoft.com/office/drawing/2014/main" id="{1339EABE-90C0-2B97-1121-2491991C6E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506080" y="2792004"/>
            <a:ext cx="252000" cy="220622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63" name="爱设计-30">
            <a:extLst>
              <a:ext uri="{FF2B5EF4-FFF2-40B4-BE49-F238E27FC236}">
                <a16:creationId xmlns:a16="http://schemas.microsoft.com/office/drawing/2014/main" id="{E009B3DF-22FF-A22D-6717-86FC84DD1E2C}"/>
              </a:ext>
            </a:extLst>
          </p:cNvPr>
          <p:cNvSpPr/>
          <p:nvPr/>
        </p:nvSpPr>
        <p:spPr>
          <a:xfrm>
            <a:off x="10362079" y="4856176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4" name="爱设计-31">
            <a:extLst>
              <a:ext uri="{FF2B5EF4-FFF2-40B4-BE49-F238E27FC236}">
                <a16:creationId xmlns:a16="http://schemas.microsoft.com/office/drawing/2014/main" id="{204D006F-592E-C9B3-BBF6-FABD1ED158D3}"/>
              </a:ext>
            </a:extLst>
          </p:cNvPr>
          <p:cNvSpPr>
            <a:spLocks noEditPoints="1"/>
          </p:cNvSpPr>
          <p:nvPr/>
        </p:nvSpPr>
        <p:spPr bwMode="auto">
          <a:xfrm>
            <a:off x="10521750" y="5000176"/>
            <a:ext cx="220658" cy="252000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踩坑案例：AI 为什么会失控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Why AI Went Off Track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爱设计-4">
            <a:extLst>
              <a:ext uri="{FF2B5EF4-FFF2-40B4-BE49-F238E27FC236}">
                <a16:creationId xmlns:a16="http://schemas.microsoft.com/office/drawing/2014/main" id="{B2ABA9B6-8990-F8B0-2C36-B090032013CD}"/>
              </a:ext>
            </a:extLst>
          </p:cNvPr>
          <p:cNvSpPr/>
          <p:nvPr/>
        </p:nvSpPr>
        <p:spPr>
          <a:xfrm rot="3195027" flipV="1">
            <a:off x="5114660" y="1852442"/>
            <a:ext cx="1798130" cy="1798131"/>
          </a:xfrm>
          <a:prstGeom prst="arc">
            <a:avLst>
              <a:gd name="adj1" fmla="val 16825165"/>
              <a:gd name="adj2" fmla="val 21468755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9" name="爱设计-5">
            <a:extLst>
              <a:ext uri="{FF2B5EF4-FFF2-40B4-BE49-F238E27FC236}">
                <a16:creationId xmlns:a16="http://schemas.microsoft.com/office/drawing/2014/main" id="{A6FD2570-9198-7D00-B86B-80F598A84149}"/>
              </a:ext>
            </a:extLst>
          </p:cNvPr>
          <p:cNvSpPr/>
          <p:nvPr/>
        </p:nvSpPr>
        <p:spPr>
          <a:xfrm rot="18404973">
            <a:off x="2543204" y="2802075"/>
            <a:ext cx="1798130" cy="1798131"/>
          </a:xfrm>
          <a:prstGeom prst="arc">
            <a:avLst>
              <a:gd name="adj1" fmla="val 16825165"/>
              <a:gd name="adj2" fmla="val 20855904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0" name="爱设计-6">
            <a:extLst>
              <a:ext uri="{FF2B5EF4-FFF2-40B4-BE49-F238E27FC236}">
                <a16:creationId xmlns:a16="http://schemas.microsoft.com/office/drawing/2014/main" id="{8A434876-32FF-2F7F-3FE0-5428F8AC7A3A}"/>
              </a:ext>
            </a:extLst>
          </p:cNvPr>
          <p:cNvSpPr/>
          <p:nvPr/>
        </p:nvSpPr>
        <p:spPr>
          <a:xfrm rot="18404973">
            <a:off x="7927815" y="2802075"/>
            <a:ext cx="1798130" cy="1798131"/>
          </a:xfrm>
          <a:prstGeom prst="arc">
            <a:avLst>
              <a:gd name="adj1" fmla="val 16825165"/>
              <a:gd name="adj2" fmla="val 20855904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2" name="爱设计-7">
            <a:extLst>
              <a:ext uri="{FF2B5EF4-FFF2-40B4-BE49-F238E27FC236}">
                <a16:creationId xmlns:a16="http://schemas.microsoft.com/office/drawing/2014/main" id="{5E3B95EF-B4D3-4B56-0CE0-EF6DBA9474B7}"/>
              </a:ext>
            </a:extLst>
          </p:cNvPr>
          <p:cNvSpPr txBox="1">
            <a:spLocks/>
          </p:cNvSpPr>
          <p:nvPr/>
        </p:nvSpPr>
        <p:spPr>
          <a:xfrm>
            <a:off x="845453" y="4213806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r>
              <a:t>套旧经验</a:t>
            </a:r>
          </a:p>
        </p:txBody>
      </p:sp>
      <p:sp>
        <p:nvSpPr>
          <p:cNvPr id="53" name="爱设计-8">
            <a:extLst>
              <a:ext uri="{FF2B5EF4-FFF2-40B4-BE49-F238E27FC236}">
                <a16:creationId xmlns:a16="http://schemas.microsoft.com/office/drawing/2014/main" id="{E2D021B6-7087-90F4-DC21-47A351EA9571}"/>
              </a:ext>
            </a:extLst>
          </p:cNvPr>
          <p:cNvSpPr txBox="1">
            <a:spLocks/>
          </p:cNvSpPr>
          <p:nvPr/>
        </p:nvSpPr>
        <p:spPr>
          <a:xfrm>
            <a:off x="845453" y="4530246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看到相似能力，就默认应该复用。</a:t>
            </a:r>
          </a:p>
        </p:txBody>
      </p:sp>
      <p:grpSp>
        <p:nvGrpSpPr>
          <p:cNvPr id="54" name="爱设计-9">
            <a:extLst>
              <a:ext uri="{FF2B5EF4-FFF2-40B4-BE49-F238E27FC236}">
                <a16:creationId xmlns:a16="http://schemas.microsoft.com/office/drawing/2014/main" id="{5BFF4BAF-8B57-E30F-E976-38AFB360F1E8}"/>
              </a:ext>
            </a:extLst>
          </p:cNvPr>
          <p:cNvGrpSpPr/>
          <p:nvPr/>
        </p:nvGrpSpPr>
        <p:grpSpPr>
          <a:xfrm>
            <a:off x="1161875" y="2416284"/>
            <a:ext cx="1592728" cy="1592728"/>
            <a:chOff x="1409700" y="2569892"/>
            <a:chExt cx="1592728" cy="1592728"/>
          </a:xfrm>
        </p:grpSpPr>
        <p:sp>
          <p:nvSpPr>
            <p:cNvPr id="55" name="爱设计-9-1">
              <a:extLst>
                <a:ext uri="{FF2B5EF4-FFF2-40B4-BE49-F238E27FC236}">
                  <a16:creationId xmlns:a16="http://schemas.microsoft.com/office/drawing/2014/main" id="{95ECDB1D-0A31-966C-03BC-6E567B1E5344}"/>
                </a:ext>
              </a:extLst>
            </p:cNvPr>
            <p:cNvSpPr/>
            <p:nvPr/>
          </p:nvSpPr>
          <p:spPr>
            <a:xfrm>
              <a:off x="1409700" y="2569892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6" name="爱设计-9-2">
              <a:extLst>
                <a:ext uri="{FF2B5EF4-FFF2-40B4-BE49-F238E27FC236}">
                  <a16:creationId xmlns:a16="http://schemas.microsoft.com/office/drawing/2014/main" id="{B379E70F-7A3C-15F2-2F9E-A33225306006}"/>
                </a:ext>
              </a:extLst>
            </p:cNvPr>
            <p:cNvSpPr/>
            <p:nvPr/>
          </p:nvSpPr>
          <p:spPr>
            <a:xfrm>
              <a:off x="1498799" y="2658991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7" name="爱设计-9-3">
              <a:extLst>
                <a:ext uri="{FF2B5EF4-FFF2-40B4-BE49-F238E27FC236}">
                  <a16:creationId xmlns:a16="http://schemas.microsoft.com/office/drawing/2014/main" id="{5D50B56E-2EBA-D0C7-940D-33C1E1B05999}"/>
                </a:ext>
              </a:extLst>
            </p:cNvPr>
            <p:cNvSpPr/>
            <p:nvPr/>
          </p:nvSpPr>
          <p:spPr>
            <a:xfrm>
              <a:off x="1911824" y="3071564"/>
              <a:ext cx="579916" cy="579916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爱设计-10">
            <a:extLst>
              <a:ext uri="{FF2B5EF4-FFF2-40B4-BE49-F238E27FC236}">
                <a16:creationId xmlns:a16="http://schemas.microsoft.com/office/drawing/2014/main" id="{6CA4F16A-C7C3-BC9B-6903-444596881136}"/>
              </a:ext>
            </a:extLst>
          </p:cNvPr>
          <p:cNvSpPr txBox="1">
            <a:spLocks/>
          </p:cNvSpPr>
          <p:nvPr/>
        </p:nvSpPr>
        <p:spPr>
          <a:xfrm>
            <a:off x="6307213" y="4213806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r>
              <a:t>自动扩范围</a:t>
            </a:r>
          </a:p>
        </p:txBody>
      </p:sp>
      <p:sp>
        <p:nvSpPr>
          <p:cNvPr id="59" name="爱设计-11">
            <a:extLst>
              <a:ext uri="{FF2B5EF4-FFF2-40B4-BE49-F238E27FC236}">
                <a16:creationId xmlns:a16="http://schemas.microsoft.com/office/drawing/2014/main" id="{3000B535-7FD4-0B3B-7D38-480E6A6E0F82}"/>
              </a:ext>
            </a:extLst>
          </p:cNvPr>
          <p:cNvSpPr txBox="1">
            <a:spLocks/>
          </p:cNvSpPr>
          <p:nvPr/>
        </p:nvSpPr>
        <p:spPr>
          <a:xfrm>
            <a:off x="6307213" y="4530246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把实施项、导入、对接都产品化。</a:t>
            </a:r>
          </a:p>
        </p:txBody>
      </p:sp>
      <p:grpSp>
        <p:nvGrpSpPr>
          <p:cNvPr id="60" name="爱设计-12">
            <a:extLst>
              <a:ext uri="{FF2B5EF4-FFF2-40B4-BE49-F238E27FC236}">
                <a16:creationId xmlns:a16="http://schemas.microsoft.com/office/drawing/2014/main" id="{46C3DC92-2B49-1CB3-0E4B-2DB558421CDC}"/>
              </a:ext>
            </a:extLst>
          </p:cNvPr>
          <p:cNvGrpSpPr/>
          <p:nvPr/>
        </p:nvGrpSpPr>
        <p:grpSpPr>
          <a:xfrm>
            <a:off x="6556698" y="2416284"/>
            <a:ext cx="1592728" cy="1592728"/>
            <a:chOff x="6582283" y="2569892"/>
            <a:chExt cx="1592728" cy="1592728"/>
          </a:xfrm>
        </p:grpSpPr>
        <p:sp>
          <p:nvSpPr>
            <p:cNvPr id="61" name="爱设计-12-1">
              <a:extLst>
                <a:ext uri="{FF2B5EF4-FFF2-40B4-BE49-F238E27FC236}">
                  <a16:creationId xmlns:a16="http://schemas.microsoft.com/office/drawing/2014/main" id="{87243BDA-5A77-E465-8E9C-8BF5BE4F5C56}"/>
                </a:ext>
              </a:extLst>
            </p:cNvPr>
            <p:cNvSpPr/>
            <p:nvPr/>
          </p:nvSpPr>
          <p:spPr>
            <a:xfrm>
              <a:off x="6582283" y="2569892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2" name="爱设计-12-2">
              <a:extLst>
                <a:ext uri="{FF2B5EF4-FFF2-40B4-BE49-F238E27FC236}">
                  <a16:creationId xmlns:a16="http://schemas.microsoft.com/office/drawing/2014/main" id="{D4BAFA9D-97AD-F264-051B-CE8F9176A447}"/>
                </a:ext>
              </a:extLst>
            </p:cNvPr>
            <p:cNvSpPr/>
            <p:nvPr/>
          </p:nvSpPr>
          <p:spPr>
            <a:xfrm>
              <a:off x="6671382" y="2658991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3" name="爱设计-12-3">
              <a:extLst>
                <a:ext uri="{FF2B5EF4-FFF2-40B4-BE49-F238E27FC236}">
                  <a16:creationId xmlns:a16="http://schemas.microsoft.com/office/drawing/2014/main" id="{B31B2F2A-9737-4730-3AD5-1D500B156AA6}"/>
                </a:ext>
              </a:extLst>
            </p:cNvPr>
            <p:cNvSpPr/>
            <p:nvPr/>
          </p:nvSpPr>
          <p:spPr>
            <a:xfrm>
              <a:off x="7088688" y="3126418"/>
              <a:ext cx="579916" cy="479672"/>
            </a:xfrm>
            <a:custGeom>
              <a:avLst/>
              <a:gdLst>
                <a:gd name="connsiteX0" fmla="*/ 114387 w 870468"/>
                <a:gd name="connsiteY0" fmla="*/ 394297 h 720000"/>
                <a:gd name="connsiteX1" fmla="*/ 125598 w 870468"/>
                <a:gd name="connsiteY1" fmla="*/ 421319 h 720000"/>
                <a:gd name="connsiteX2" fmla="*/ 153878 w 870468"/>
                <a:gd name="connsiteY2" fmla="*/ 433051 h 720000"/>
                <a:gd name="connsiteX3" fmla="*/ 449972 w 870468"/>
                <a:gd name="connsiteY3" fmla="*/ 433051 h 720000"/>
                <a:gd name="connsiteX4" fmla="*/ 478295 w 870468"/>
                <a:gd name="connsiteY4" fmla="*/ 421319 h 720000"/>
                <a:gd name="connsiteX5" fmla="*/ 489465 w 870468"/>
                <a:gd name="connsiteY5" fmla="*/ 394297 h 720000"/>
                <a:gd name="connsiteX6" fmla="*/ 116266 w 870468"/>
                <a:gd name="connsiteY6" fmla="*/ 68594 h 720000"/>
                <a:gd name="connsiteX7" fmla="*/ 68708 w 870468"/>
                <a:gd name="connsiteY7" fmla="*/ 116152 h 720000"/>
                <a:gd name="connsiteX8" fmla="*/ 68708 w 870468"/>
                <a:gd name="connsiteY8" fmla="*/ 241561 h 720000"/>
                <a:gd name="connsiteX9" fmla="*/ 801875 w 870468"/>
                <a:gd name="connsiteY9" fmla="*/ 241561 h 720000"/>
                <a:gd name="connsiteX10" fmla="*/ 801875 w 870468"/>
                <a:gd name="connsiteY10" fmla="*/ 116152 h 720000"/>
                <a:gd name="connsiteX11" fmla="*/ 754317 w 870468"/>
                <a:gd name="connsiteY11" fmla="*/ 68594 h 720000"/>
                <a:gd name="connsiteX12" fmla="*/ 598821 w 870468"/>
                <a:gd name="connsiteY12" fmla="*/ 68594 h 720000"/>
                <a:gd name="connsiteX13" fmla="*/ 116266 w 870468"/>
                <a:gd name="connsiteY13" fmla="*/ 0 h 720000"/>
                <a:gd name="connsiteX14" fmla="*/ 598821 w 870468"/>
                <a:gd name="connsiteY14" fmla="*/ 0 h 720000"/>
                <a:gd name="connsiteX15" fmla="*/ 754317 w 870468"/>
                <a:gd name="connsiteY15" fmla="*/ 0 h 720000"/>
                <a:gd name="connsiteX16" fmla="*/ 870468 w 870468"/>
                <a:gd name="connsiteY16" fmla="*/ 116152 h 720000"/>
                <a:gd name="connsiteX17" fmla="*/ 870468 w 870468"/>
                <a:gd name="connsiteY17" fmla="*/ 360001 h 720000"/>
                <a:gd name="connsiteX18" fmla="*/ 870468 w 870468"/>
                <a:gd name="connsiteY18" fmla="*/ 603736 h 720000"/>
                <a:gd name="connsiteX19" fmla="*/ 754317 w 870468"/>
                <a:gd name="connsiteY19" fmla="*/ 720000 h 720000"/>
                <a:gd name="connsiteX20" fmla="*/ 598821 w 870468"/>
                <a:gd name="connsiteY20" fmla="*/ 720000 h 720000"/>
                <a:gd name="connsiteX21" fmla="*/ 116266 w 870468"/>
                <a:gd name="connsiteY21" fmla="*/ 720000 h 720000"/>
                <a:gd name="connsiteX22" fmla="*/ 115 w 870468"/>
                <a:gd name="connsiteY22" fmla="*/ 603850 h 720000"/>
                <a:gd name="connsiteX23" fmla="*/ 115 w 870468"/>
                <a:gd name="connsiteY23" fmla="*/ 360279 h 720000"/>
                <a:gd name="connsiteX24" fmla="*/ 0 w 870468"/>
                <a:gd name="connsiteY24" fmla="*/ 360001 h 720000"/>
                <a:gd name="connsiteX25" fmla="*/ 115 w 870468"/>
                <a:gd name="connsiteY25" fmla="*/ 359723 h 720000"/>
                <a:gd name="connsiteX26" fmla="*/ 115 w 870468"/>
                <a:gd name="connsiteY26" fmla="*/ 116152 h 720000"/>
                <a:gd name="connsiteX27" fmla="*/ 116266 w 870468"/>
                <a:gd name="connsiteY27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70468" h="720000">
                  <a:moveTo>
                    <a:pt x="114387" y="394297"/>
                  </a:moveTo>
                  <a:lnTo>
                    <a:pt x="125598" y="421319"/>
                  </a:lnTo>
                  <a:cubicBezTo>
                    <a:pt x="132843" y="428564"/>
                    <a:pt x="142846" y="433051"/>
                    <a:pt x="153878" y="433051"/>
                  </a:cubicBezTo>
                  <a:lnTo>
                    <a:pt x="449972" y="433051"/>
                  </a:lnTo>
                  <a:cubicBezTo>
                    <a:pt x="461061" y="433051"/>
                    <a:pt x="471064" y="428564"/>
                    <a:pt x="478295" y="421319"/>
                  </a:cubicBezTo>
                  <a:lnTo>
                    <a:pt x="489465" y="394297"/>
                  </a:lnTo>
                  <a:close/>
                  <a:moveTo>
                    <a:pt x="116266" y="68594"/>
                  </a:moveTo>
                  <a:cubicBezTo>
                    <a:pt x="89972" y="68594"/>
                    <a:pt x="68708" y="89972"/>
                    <a:pt x="68708" y="116152"/>
                  </a:cubicBezTo>
                  <a:lnTo>
                    <a:pt x="68708" y="241561"/>
                  </a:lnTo>
                  <a:lnTo>
                    <a:pt x="801875" y="241561"/>
                  </a:lnTo>
                  <a:lnTo>
                    <a:pt x="801875" y="116152"/>
                  </a:lnTo>
                  <a:cubicBezTo>
                    <a:pt x="801875" y="89858"/>
                    <a:pt x="780497" y="68594"/>
                    <a:pt x="754317" y="68594"/>
                  </a:cubicBezTo>
                  <a:lnTo>
                    <a:pt x="598821" y="68594"/>
                  </a:lnTo>
                  <a:close/>
                  <a:moveTo>
                    <a:pt x="116266" y="0"/>
                  </a:moveTo>
                  <a:lnTo>
                    <a:pt x="598821" y="0"/>
                  </a:lnTo>
                  <a:lnTo>
                    <a:pt x="754317" y="0"/>
                  </a:lnTo>
                  <a:cubicBezTo>
                    <a:pt x="818338" y="0"/>
                    <a:pt x="870468" y="52131"/>
                    <a:pt x="870468" y="116152"/>
                  </a:cubicBezTo>
                  <a:lnTo>
                    <a:pt x="870468" y="360001"/>
                  </a:lnTo>
                  <a:lnTo>
                    <a:pt x="870468" y="603736"/>
                  </a:lnTo>
                  <a:cubicBezTo>
                    <a:pt x="870468" y="667870"/>
                    <a:pt x="818338" y="720000"/>
                    <a:pt x="754317" y="720000"/>
                  </a:cubicBezTo>
                  <a:lnTo>
                    <a:pt x="598821" y="720000"/>
                  </a:lnTo>
                  <a:lnTo>
                    <a:pt x="116266" y="720000"/>
                  </a:lnTo>
                  <a:cubicBezTo>
                    <a:pt x="52246" y="720000"/>
                    <a:pt x="115" y="667870"/>
                    <a:pt x="115" y="603850"/>
                  </a:cubicBezTo>
                  <a:lnTo>
                    <a:pt x="115" y="360279"/>
                  </a:lnTo>
                  <a:lnTo>
                    <a:pt x="0" y="360001"/>
                  </a:lnTo>
                  <a:lnTo>
                    <a:pt x="115" y="359723"/>
                  </a:lnTo>
                  <a:lnTo>
                    <a:pt x="115" y="116152"/>
                  </a:lnTo>
                  <a:cubicBezTo>
                    <a:pt x="115" y="52131"/>
                    <a:pt x="52246" y="0"/>
                    <a:pt x="116266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4" name="爱设计-13">
            <a:extLst>
              <a:ext uri="{FF2B5EF4-FFF2-40B4-BE49-F238E27FC236}">
                <a16:creationId xmlns:a16="http://schemas.microsoft.com/office/drawing/2014/main" id="{D2FC034C-4E43-9473-B6A3-9661B9BD9C80}"/>
              </a:ext>
            </a:extLst>
          </p:cNvPr>
          <p:cNvSpPr txBox="1">
            <a:spLocks/>
          </p:cNvSpPr>
          <p:nvPr/>
        </p:nvSpPr>
        <p:spPr>
          <a:xfrm>
            <a:off x="3576333" y="3864801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r>
              <a:t>理想化重设计</a:t>
            </a:r>
          </a:p>
        </p:txBody>
      </p:sp>
      <p:sp>
        <p:nvSpPr>
          <p:cNvPr id="65" name="爱设计-14">
            <a:extLst>
              <a:ext uri="{FF2B5EF4-FFF2-40B4-BE49-F238E27FC236}">
                <a16:creationId xmlns:a16="http://schemas.microsoft.com/office/drawing/2014/main" id="{8A69D0B7-B768-87F0-E296-000B78E90524}"/>
              </a:ext>
            </a:extLst>
          </p:cNvPr>
          <p:cNvSpPr txBox="1">
            <a:spLocks/>
          </p:cNvSpPr>
          <p:nvPr/>
        </p:nvSpPr>
        <p:spPr>
          <a:xfrm>
            <a:off x="3576333" y="4181241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更愿意给新方案，而不是贴着现有系统轻改。</a:t>
            </a:r>
          </a:p>
        </p:txBody>
      </p:sp>
      <p:grpSp>
        <p:nvGrpSpPr>
          <p:cNvPr id="66" name="爱设计-15">
            <a:extLst>
              <a:ext uri="{FF2B5EF4-FFF2-40B4-BE49-F238E27FC236}">
                <a16:creationId xmlns:a16="http://schemas.microsoft.com/office/drawing/2014/main" id="{178014F9-DA54-6EFF-7A71-BB4DE21E52BA}"/>
              </a:ext>
            </a:extLst>
          </p:cNvPr>
          <p:cNvGrpSpPr/>
          <p:nvPr/>
        </p:nvGrpSpPr>
        <p:grpSpPr>
          <a:xfrm>
            <a:off x="3888474" y="2080633"/>
            <a:ext cx="1592728" cy="1592728"/>
            <a:chOff x="4025179" y="2234241"/>
            <a:chExt cx="1592728" cy="1592728"/>
          </a:xfrm>
        </p:grpSpPr>
        <p:sp>
          <p:nvSpPr>
            <p:cNvPr id="67" name="爱设计-15-1">
              <a:extLst>
                <a:ext uri="{FF2B5EF4-FFF2-40B4-BE49-F238E27FC236}">
                  <a16:creationId xmlns:a16="http://schemas.microsoft.com/office/drawing/2014/main" id="{9C22230B-EFDD-36A4-4F72-8FDF78F7AB42}"/>
                </a:ext>
              </a:extLst>
            </p:cNvPr>
            <p:cNvSpPr/>
            <p:nvPr/>
          </p:nvSpPr>
          <p:spPr>
            <a:xfrm>
              <a:off x="4025179" y="2234241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8" name="爱设计-15-2">
              <a:extLst>
                <a:ext uri="{FF2B5EF4-FFF2-40B4-BE49-F238E27FC236}">
                  <a16:creationId xmlns:a16="http://schemas.microsoft.com/office/drawing/2014/main" id="{8FBCA863-C153-3257-DCBF-D5DC5AEEBE9A}"/>
                </a:ext>
              </a:extLst>
            </p:cNvPr>
            <p:cNvSpPr/>
            <p:nvPr/>
          </p:nvSpPr>
          <p:spPr>
            <a:xfrm>
              <a:off x="4114278" y="2323340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9" name="爱设计-15-3">
              <a:extLst>
                <a:ext uri="{FF2B5EF4-FFF2-40B4-BE49-F238E27FC236}">
                  <a16:creationId xmlns:a16="http://schemas.microsoft.com/office/drawing/2014/main" id="{5A9F45FC-670A-0C29-7227-68A1992A124E}"/>
                </a:ext>
              </a:extLst>
            </p:cNvPr>
            <p:cNvSpPr/>
            <p:nvPr/>
          </p:nvSpPr>
          <p:spPr>
            <a:xfrm>
              <a:off x="4531584" y="2795332"/>
              <a:ext cx="579916" cy="507707"/>
            </a:xfrm>
            <a:custGeom>
              <a:avLst/>
              <a:gdLst>
                <a:gd name="connsiteX0" fmla="*/ 411293 w 822401"/>
                <a:gd name="connsiteY0" fmla="*/ 234366 h 720000"/>
                <a:gd name="connsiteX1" fmla="*/ 536928 w 822401"/>
                <a:gd name="connsiteY1" fmla="*/ 360000 h 720000"/>
                <a:gd name="connsiteX2" fmla="*/ 411293 w 822401"/>
                <a:gd name="connsiteY2" fmla="*/ 485635 h 720000"/>
                <a:gd name="connsiteX3" fmla="*/ 285659 w 822401"/>
                <a:gd name="connsiteY3" fmla="*/ 360000 h 720000"/>
                <a:gd name="connsiteX4" fmla="*/ 411293 w 822401"/>
                <a:gd name="connsiteY4" fmla="*/ 234366 h 720000"/>
                <a:gd name="connsiteX5" fmla="*/ 411293 w 822401"/>
                <a:gd name="connsiteY5" fmla="*/ 178938 h 720000"/>
                <a:gd name="connsiteX6" fmla="*/ 230231 w 822401"/>
                <a:gd name="connsiteY6" fmla="*/ 360000 h 720000"/>
                <a:gd name="connsiteX7" fmla="*/ 411293 w 822401"/>
                <a:gd name="connsiteY7" fmla="*/ 541063 h 720000"/>
                <a:gd name="connsiteX8" fmla="*/ 592355 w 822401"/>
                <a:gd name="connsiteY8" fmla="*/ 360000 h 720000"/>
                <a:gd name="connsiteX9" fmla="*/ 411293 w 822401"/>
                <a:gd name="connsiteY9" fmla="*/ 178938 h 720000"/>
                <a:gd name="connsiteX10" fmla="*/ 219884 w 822401"/>
                <a:gd name="connsiteY10" fmla="*/ 0 h 720000"/>
                <a:gd name="connsiteX11" fmla="*/ 602517 w 822401"/>
                <a:gd name="connsiteY11" fmla="*/ 0 h 720000"/>
                <a:gd name="connsiteX12" fmla="*/ 627275 w 822401"/>
                <a:gd name="connsiteY12" fmla="*/ 14319 h 720000"/>
                <a:gd name="connsiteX13" fmla="*/ 818591 w 822401"/>
                <a:gd name="connsiteY13" fmla="*/ 345682 h 720000"/>
                <a:gd name="connsiteX14" fmla="*/ 818591 w 822401"/>
                <a:gd name="connsiteY14" fmla="*/ 374319 h 720000"/>
                <a:gd name="connsiteX15" fmla="*/ 627367 w 822401"/>
                <a:gd name="connsiteY15" fmla="*/ 705682 h 720000"/>
                <a:gd name="connsiteX16" fmla="*/ 602609 w 822401"/>
                <a:gd name="connsiteY16" fmla="*/ 720000 h 720000"/>
                <a:gd name="connsiteX17" fmla="*/ 219977 w 822401"/>
                <a:gd name="connsiteY17" fmla="*/ 720000 h 720000"/>
                <a:gd name="connsiteX18" fmla="*/ 195219 w 822401"/>
                <a:gd name="connsiteY18" fmla="*/ 705682 h 720000"/>
                <a:gd name="connsiteX19" fmla="*/ 3811 w 822401"/>
                <a:gd name="connsiteY19" fmla="*/ 374319 h 720000"/>
                <a:gd name="connsiteX20" fmla="*/ 3811 w 822401"/>
                <a:gd name="connsiteY20" fmla="*/ 345682 h 720000"/>
                <a:gd name="connsiteX21" fmla="*/ 195127 w 822401"/>
                <a:gd name="connsiteY21" fmla="*/ 14319 h 720000"/>
                <a:gd name="connsiteX22" fmla="*/ 219884 w 822401"/>
                <a:gd name="connsiteY22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2401" h="720000">
                  <a:moveTo>
                    <a:pt x="411293" y="234366"/>
                  </a:moveTo>
                  <a:cubicBezTo>
                    <a:pt x="480577" y="234366"/>
                    <a:pt x="536928" y="290716"/>
                    <a:pt x="536928" y="360000"/>
                  </a:cubicBezTo>
                  <a:cubicBezTo>
                    <a:pt x="536928" y="429284"/>
                    <a:pt x="480577" y="485635"/>
                    <a:pt x="411293" y="485635"/>
                  </a:cubicBezTo>
                  <a:cubicBezTo>
                    <a:pt x="342009" y="485635"/>
                    <a:pt x="285659" y="429284"/>
                    <a:pt x="285659" y="360000"/>
                  </a:cubicBezTo>
                  <a:cubicBezTo>
                    <a:pt x="285659" y="290716"/>
                    <a:pt x="342009" y="234366"/>
                    <a:pt x="411293" y="234366"/>
                  </a:cubicBezTo>
                  <a:close/>
                  <a:moveTo>
                    <a:pt x="411293" y="178938"/>
                  </a:moveTo>
                  <a:cubicBezTo>
                    <a:pt x="311432" y="178938"/>
                    <a:pt x="230231" y="260139"/>
                    <a:pt x="230231" y="360000"/>
                  </a:cubicBezTo>
                  <a:cubicBezTo>
                    <a:pt x="230231" y="459862"/>
                    <a:pt x="311432" y="541063"/>
                    <a:pt x="411293" y="541063"/>
                  </a:cubicBezTo>
                  <a:cubicBezTo>
                    <a:pt x="511154" y="541063"/>
                    <a:pt x="592355" y="459862"/>
                    <a:pt x="592355" y="360000"/>
                  </a:cubicBezTo>
                  <a:cubicBezTo>
                    <a:pt x="592355" y="260139"/>
                    <a:pt x="511154" y="178938"/>
                    <a:pt x="411293" y="178938"/>
                  </a:cubicBezTo>
                  <a:close/>
                  <a:moveTo>
                    <a:pt x="219884" y="0"/>
                  </a:moveTo>
                  <a:lnTo>
                    <a:pt x="602517" y="0"/>
                  </a:lnTo>
                  <a:cubicBezTo>
                    <a:pt x="612679" y="0"/>
                    <a:pt x="622194" y="5451"/>
                    <a:pt x="627275" y="14319"/>
                  </a:cubicBezTo>
                  <a:lnTo>
                    <a:pt x="818591" y="345682"/>
                  </a:lnTo>
                  <a:cubicBezTo>
                    <a:pt x="823672" y="354550"/>
                    <a:pt x="823672" y="365451"/>
                    <a:pt x="818591" y="374319"/>
                  </a:cubicBezTo>
                  <a:lnTo>
                    <a:pt x="627367" y="705682"/>
                  </a:lnTo>
                  <a:cubicBezTo>
                    <a:pt x="622286" y="714550"/>
                    <a:pt x="612771" y="720000"/>
                    <a:pt x="602609" y="720000"/>
                  </a:cubicBezTo>
                  <a:lnTo>
                    <a:pt x="219977" y="720000"/>
                  </a:lnTo>
                  <a:cubicBezTo>
                    <a:pt x="209815" y="720000"/>
                    <a:pt x="200300" y="714550"/>
                    <a:pt x="195219" y="705682"/>
                  </a:cubicBezTo>
                  <a:lnTo>
                    <a:pt x="3811" y="374319"/>
                  </a:lnTo>
                  <a:cubicBezTo>
                    <a:pt x="-1270" y="365543"/>
                    <a:pt x="-1270" y="354550"/>
                    <a:pt x="3811" y="345682"/>
                  </a:cubicBezTo>
                  <a:lnTo>
                    <a:pt x="195127" y="14319"/>
                  </a:lnTo>
                  <a:cubicBezTo>
                    <a:pt x="200208" y="5451"/>
                    <a:pt x="209723" y="0"/>
                    <a:pt x="219884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0" name="爱设计-16">
            <a:extLst>
              <a:ext uri="{FF2B5EF4-FFF2-40B4-BE49-F238E27FC236}">
                <a16:creationId xmlns:a16="http://schemas.microsoft.com/office/drawing/2014/main" id="{BED5BA90-FD16-4DF5-F7B8-AA024F889005}"/>
              </a:ext>
            </a:extLst>
          </p:cNvPr>
          <p:cNvSpPr txBox="1">
            <a:spLocks/>
          </p:cNvSpPr>
          <p:nvPr/>
        </p:nvSpPr>
        <p:spPr>
          <a:xfrm>
            <a:off x="9038092" y="3864801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r>
              <a:t>局部对，全局乱</a:t>
            </a:r>
          </a:p>
        </p:txBody>
      </p:sp>
      <p:sp>
        <p:nvSpPr>
          <p:cNvPr id="71" name="爱设计-17">
            <a:extLst>
              <a:ext uri="{FF2B5EF4-FFF2-40B4-BE49-F238E27FC236}">
                <a16:creationId xmlns:a16="http://schemas.microsoft.com/office/drawing/2014/main" id="{102BA89A-336E-2A68-84E5-44DCB68734BA}"/>
              </a:ext>
            </a:extLst>
          </p:cNvPr>
          <p:cNvSpPr txBox="1">
            <a:spLocks/>
          </p:cNvSpPr>
          <p:nvPr/>
        </p:nvSpPr>
        <p:spPr>
          <a:xfrm>
            <a:off x="9038092" y="4181241"/>
            <a:ext cx="2308455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r>
              <a:t>能完成当前指令，但不会天然维护整份文档一致性。</a:t>
            </a:r>
          </a:p>
        </p:txBody>
      </p:sp>
      <p:grpSp>
        <p:nvGrpSpPr>
          <p:cNvPr id="72" name="爱设计-18">
            <a:extLst>
              <a:ext uri="{FF2B5EF4-FFF2-40B4-BE49-F238E27FC236}">
                <a16:creationId xmlns:a16="http://schemas.microsoft.com/office/drawing/2014/main" id="{D7D52E9B-17C8-49D2-3769-068D2C5164BC}"/>
              </a:ext>
            </a:extLst>
          </p:cNvPr>
          <p:cNvGrpSpPr/>
          <p:nvPr/>
        </p:nvGrpSpPr>
        <p:grpSpPr>
          <a:xfrm>
            <a:off x="9275107" y="2080633"/>
            <a:ext cx="1592728" cy="1592728"/>
            <a:chOff x="9189573" y="2234241"/>
            <a:chExt cx="1592728" cy="1592728"/>
          </a:xfrm>
        </p:grpSpPr>
        <p:sp>
          <p:nvSpPr>
            <p:cNvPr id="73" name="爱设计-18-1">
              <a:extLst>
                <a:ext uri="{FF2B5EF4-FFF2-40B4-BE49-F238E27FC236}">
                  <a16:creationId xmlns:a16="http://schemas.microsoft.com/office/drawing/2014/main" id="{BDE647CA-C183-2FF2-2EDF-6F60E6CDE8BB}"/>
                </a:ext>
              </a:extLst>
            </p:cNvPr>
            <p:cNvSpPr/>
            <p:nvPr/>
          </p:nvSpPr>
          <p:spPr>
            <a:xfrm>
              <a:off x="9189573" y="2234241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74" name="爱设计-18-2">
              <a:extLst>
                <a:ext uri="{FF2B5EF4-FFF2-40B4-BE49-F238E27FC236}">
                  <a16:creationId xmlns:a16="http://schemas.microsoft.com/office/drawing/2014/main" id="{E9F39B1A-5D8F-A8B6-8750-0C13728F613E}"/>
                </a:ext>
              </a:extLst>
            </p:cNvPr>
            <p:cNvSpPr/>
            <p:nvPr/>
          </p:nvSpPr>
          <p:spPr>
            <a:xfrm>
              <a:off x="9278672" y="2323340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75" name="爱设计-18-3">
              <a:extLst>
                <a:ext uri="{FF2B5EF4-FFF2-40B4-BE49-F238E27FC236}">
                  <a16:creationId xmlns:a16="http://schemas.microsoft.com/office/drawing/2014/main" id="{346B4F03-71EF-93E4-E12B-F7F059C70BCE}"/>
                </a:ext>
              </a:extLst>
            </p:cNvPr>
            <p:cNvSpPr/>
            <p:nvPr/>
          </p:nvSpPr>
          <p:spPr>
            <a:xfrm>
              <a:off x="9707086" y="2740646"/>
              <a:ext cx="557698" cy="579916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39497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成功案例：怎样用 AI 才真正有效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What Actually Worked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09B6A106-DA4A-0E0B-7A8C-F6C45E39482B}"/>
              </a:ext>
            </a:extLst>
          </p:cNvPr>
          <p:cNvGrpSpPr/>
          <p:nvPr/>
        </p:nvGrpSpPr>
        <p:grpSpPr>
          <a:xfrm rot="6908885">
            <a:off x="3879684" y="1982670"/>
            <a:ext cx="4232455" cy="4232456"/>
            <a:chOff x="5385760" y="1076702"/>
            <a:chExt cx="4711958" cy="4711958"/>
          </a:xfrm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9CE7DF73-7CC6-8D92-CF4F-8EF23D2EA00E}"/>
                </a:ext>
              </a:extLst>
            </p:cNvPr>
            <p:cNvSpPr/>
            <p:nvPr/>
          </p:nvSpPr>
          <p:spPr>
            <a:xfrm>
              <a:off x="5385760" y="1180148"/>
              <a:ext cx="4608512" cy="4608512"/>
            </a:xfrm>
            <a:prstGeom prst="arc">
              <a:avLst>
                <a:gd name="adj1" fmla="val 18315469"/>
                <a:gd name="adj2" fmla="val 622228"/>
              </a:avLst>
            </a:prstGeom>
            <a:ln w="22225" cap="rnd">
              <a:gradFill>
                <a:gsLst>
                  <a:gs pos="5300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bevel/>
              <a:tailEnd type="arrow"/>
            </a:ln>
            <a:effectLst>
              <a:outerShdw blurRad="76200" dist="38100" dir="5400000" algn="t" rotWithShape="0">
                <a:schemeClr val="accent2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D5B1695C-0C14-459D-2604-D2AE214CB9BD}"/>
                </a:ext>
              </a:extLst>
            </p:cNvPr>
            <p:cNvSpPr/>
            <p:nvPr/>
          </p:nvSpPr>
          <p:spPr>
            <a:xfrm>
              <a:off x="5590437" y="1401009"/>
              <a:ext cx="4166790" cy="4166790"/>
            </a:xfrm>
            <a:prstGeom prst="arc">
              <a:avLst>
                <a:gd name="adj1" fmla="val 18023424"/>
                <a:gd name="adj2" fmla="val 20271841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8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DAC1C431-8621-71AF-5C43-83B5F449DC6A}"/>
                </a:ext>
              </a:extLst>
            </p:cNvPr>
            <p:cNvSpPr/>
            <p:nvPr/>
          </p:nvSpPr>
          <p:spPr>
            <a:xfrm>
              <a:off x="5827482" y="1076702"/>
              <a:ext cx="4270236" cy="4270236"/>
            </a:xfrm>
            <a:prstGeom prst="arc">
              <a:avLst>
                <a:gd name="adj1" fmla="val 18023424"/>
                <a:gd name="adj2" fmla="val 21208370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sp>
        <p:nvSpPr>
          <p:cNvPr id="9" name="爱设计-5">
            <a:extLst>
              <a:ext uri="{FF2B5EF4-FFF2-40B4-BE49-F238E27FC236}">
                <a16:creationId xmlns:a16="http://schemas.microsoft.com/office/drawing/2014/main" id="{77E592E9-9947-C31B-9640-902E383F8906}"/>
              </a:ext>
            </a:extLst>
          </p:cNvPr>
          <p:cNvSpPr/>
          <p:nvPr/>
        </p:nvSpPr>
        <p:spPr>
          <a:xfrm rot="14103440">
            <a:off x="3990838" y="2040603"/>
            <a:ext cx="4139536" cy="4139537"/>
          </a:xfrm>
          <a:prstGeom prst="arc">
            <a:avLst>
              <a:gd name="adj1" fmla="val 18315469"/>
              <a:gd name="adj2" fmla="val 622228"/>
            </a:avLst>
          </a:prstGeom>
          <a:ln w="22225" cap="rnd">
            <a:gradFill>
              <a:gsLst>
                <a:gs pos="53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0"/>
            </a:gradFill>
            <a:bevel/>
            <a:tailEnd type="arrow"/>
          </a:ln>
          <a:effectLst>
            <a:outerShdw blurRad="76200" dist="38100" dir="5400000" algn="t" rotWithShape="0">
              <a:schemeClr val="accent2">
                <a:alpha val="3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0" name="爱设计-6">
            <a:extLst>
              <a:ext uri="{FF2B5EF4-FFF2-40B4-BE49-F238E27FC236}">
                <a16:creationId xmlns:a16="http://schemas.microsoft.com/office/drawing/2014/main" id="{BEBCD862-FCE7-5551-BA2A-E9074C1E1E79}"/>
              </a:ext>
            </a:extLst>
          </p:cNvPr>
          <p:cNvSpPr/>
          <p:nvPr/>
        </p:nvSpPr>
        <p:spPr>
          <a:xfrm rot="14103440">
            <a:off x="3801822" y="2132060"/>
            <a:ext cx="3835685" cy="3835686"/>
          </a:xfrm>
          <a:prstGeom prst="arc">
            <a:avLst>
              <a:gd name="adj1" fmla="val 18023424"/>
              <a:gd name="adj2" fmla="val 21208370"/>
            </a:avLst>
          </a:prstGeom>
          <a:ln w="19050" cap="rnd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0"/>
            </a:gradFill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1" name="爱设计-7">
            <a:extLst>
              <a:ext uri="{FF2B5EF4-FFF2-40B4-BE49-F238E27FC236}">
                <a16:creationId xmlns:a16="http://schemas.microsoft.com/office/drawing/2014/main" id="{3D0BE3B3-4411-17EA-122A-7A491F349361}"/>
              </a:ext>
            </a:extLst>
          </p:cNvPr>
          <p:cNvSpPr/>
          <p:nvPr/>
        </p:nvSpPr>
        <p:spPr>
          <a:xfrm rot="14103440">
            <a:off x="4231965" y="2289858"/>
            <a:ext cx="3617380" cy="3617380"/>
          </a:xfrm>
          <a:prstGeom prst="arc">
            <a:avLst>
              <a:gd name="adj1" fmla="val 18023424"/>
              <a:gd name="adj2" fmla="val 20267252"/>
            </a:avLst>
          </a:prstGeom>
          <a:ln w="19050" cap="rnd">
            <a:gradFill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0"/>
            </a:gradFill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2" name="爱设计-8">
            <a:extLst>
              <a:ext uri="{FF2B5EF4-FFF2-40B4-BE49-F238E27FC236}">
                <a16:creationId xmlns:a16="http://schemas.microsoft.com/office/drawing/2014/main" id="{B924161F-DFD7-3CD8-41D2-B22498103F4A}"/>
              </a:ext>
            </a:extLst>
          </p:cNvPr>
          <p:cNvSpPr/>
          <p:nvPr/>
        </p:nvSpPr>
        <p:spPr>
          <a:xfrm rot="16200000">
            <a:off x="5362572" y="1650592"/>
            <a:ext cx="1137327" cy="980455"/>
          </a:xfrm>
          <a:prstGeom prst="hexagon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76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3" name="爱设计-9">
            <a:extLst>
              <a:ext uri="{FF2B5EF4-FFF2-40B4-BE49-F238E27FC236}">
                <a16:creationId xmlns:a16="http://schemas.microsoft.com/office/drawing/2014/main" id="{3B1897A3-B871-895E-2F04-C1275B9C7091}"/>
              </a:ext>
            </a:extLst>
          </p:cNvPr>
          <p:cNvSpPr/>
          <p:nvPr/>
        </p:nvSpPr>
        <p:spPr>
          <a:xfrm rot="16200000">
            <a:off x="5065753" y="3303672"/>
            <a:ext cx="1728657" cy="1490222"/>
          </a:xfrm>
          <a:prstGeom prst="hexagon">
            <a:avLst>
              <a:gd name="adj" fmla="val 27834"/>
              <a:gd name="vf" fmla="val 11547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6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4" name="爱设计-10">
            <a:extLst>
              <a:ext uri="{FF2B5EF4-FFF2-40B4-BE49-F238E27FC236}">
                <a16:creationId xmlns:a16="http://schemas.microsoft.com/office/drawing/2014/main" id="{93288A8B-93B5-5F52-A26B-6DC3596F52A5}"/>
              </a:ext>
            </a:extLst>
          </p:cNvPr>
          <p:cNvSpPr/>
          <p:nvPr/>
        </p:nvSpPr>
        <p:spPr>
          <a:xfrm>
            <a:off x="4821324" y="2897029"/>
            <a:ext cx="2303506" cy="2303506"/>
          </a:xfrm>
          <a:prstGeom prst="ellipse">
            <a:avLst/>
          </a:prstGeom>
          <a:noFill/>
          <a:ln w="22225">
            <a:gradFill>
              <a:gsLst>
                <a:gs pos="49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alpha val="4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0"/>
            </a:gradFill>
          </a:ln>
          <a:effectLst>
            <a:outerShdw blurRad="254000" dist="38100" dir="5400000" algn="t" rotWithShape="0">
              <a:srgbClr val="FF9419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15" name="爱设计-11">
            <a:extLst>
              <a:ext uri="{FF2B5EF4-FFF2-40B4-BE49-F238E27FC236}">
                <a16:creationId xmlns:a16="http://schemas.microsoft.com/office/drawing/2014/main" id="{9673F72F-EC4F-1948-BFBA-0686EB7F3605}"/>
              </a:ext>
            </a:extLst>
          </p:cNvPr>
          <p:cNvGrpSpPr/>
          <p:nvPr/>
        </p:nvGrpSpPr>
        <p:grpSpPr>
          <a:xfrm>
            <a:off x="4014585" y="2118408"/>
            <a:ext cx="3916987" cy="3916987"/>
            <a:chOff x="5385760" y="1076702"/>
            <a:chExt cx="4711958" cy="4711958"/>
          </a:xfrm>
          <a:effectLst/>
        </p:grpSpPr>
        <p:sp>
          <p:nvSpPr>
            <p:cNvPr id="16" name="爱设计-11-1">
              <a:extLst>
                <a:ext uri="{FF2B5EF4-FFF2-40B4-BE49-F238E27FC236}">
                  <a16:creationId xmlns:a16="http://schemas.microsoft.com/office/drawing/2014/main" id="{EA9B1450-98ED-EB33-3ABF-A899DDAF4B60}"/>
                </a:ext>
              </a:extLst>
            </p:cNvPr>
            <p:cNvSpPr/>
            <p:nvPr/>
          </p:nvSpPr>
          <p:spPr>
            <a:xfrm>
              <a:off x="5385760" y="1180148"/>
              <a:ext cx="4608512" cy="4608512"/>
            </a:xfrm>
            <a:prstGeom prst="arc">
              <a:avLst>
                <a:gd name="adj1" fmla="val 18315469"/>
                <a:gd name="adj2" fmla="val 622228"/>
              </a:avLst>
            </a:prstGeom>
            <a:ln w="22225" cap="rnd">
              <a:gradFill>
                <a:gsLst>
                  <a:gs pos="5300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bevel/>
              <a:tailEnd type="arrow"/>
            </a:ln>
            <a:effectLst>
              <a:outerShdw blurRad="76200" dist="38100" dir="5400000" algn="t" rotWithShape="0">
                <a:schemeClr val="accent2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17" name="爱设计-11-2">
              <a:extLst>
                <a:ext uri="{FF2B5EF4-FFF2-40B4-BE49-F238E27FC236}">
                  <a16:creationId xmlns:a16="http://schemas.microsoft.com/office/drawing/2014/main" id="{E991ABF0-F494-318C-7130-87C26A11C44D}"/>
                </a:ext>
              </a:extLst>
            </p:cNvPr>
            <p:cNvSpPr/>
            <p:nvPr/>
          </p:nvSpPr>
          <p:spPr>
            <a:xfrm>
              <a:off x="5590437" y="1401009"/>
              <a:ext cx="4166790" cy="4166790"/>
            </a:xfrm>
            <a:prstGeom prst="arc">
              <a:avLst>
                <a:gd name="adj1" fmla="val 18023424"/>
                <a:gd name="adj2" fmla="val 20267252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18" name="爱设计-11-3">
              <a:extLst>
                <a:ext uri="{FF2B5EF4-FFF2-40B4-BE49-F238E27FC236}">
                  <a16:creationId xmlns:a16="http://schemas.microsoft.com/office/drawing/2014/main" id="{4D0A032E-4873-2884-5170-290896FC1E8C}"/>
                </a:ext>
              </a:extLst>
            </p:cNvPr>
            <p:cNvSpPr/>
            <p:nvPr/>
          </p:nvSpPr>
          <p:spPr>
            <a:xfrm>
              <a:off x="5827482" y="1076702"/>
              <a:ext cx="4270236" cy="4270236"/>
            </a:xfrm>
            <a:prstGeom prst="arc">
              <a:avLst>
                <a:gd name="adj1" fmla="val 18023424"/>
                <a:gd name="adj2" fmla="val 21208370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grpSp>
        <p:nvGrpSpPr>
          <p:cNvPr id="19" name="爱设计-12">
            <a:extLst>
              <a:ext uri="{FF2B5EF4-FFF2-40B4-BE49-F238E27FC236}">
                <a16:creationId xmlns:a16="http://schemas.microsoft.com/office/drawing/2014/main" id="{9CFE3035-B090-AC70-B874-2A460D208097}"/>
              </a:ext>
            </a:extLst>
          </p:cNvPr>
          <p:cNvGrpSpPr/>
          <p:nvPr/>
        </p:nvGrpSpPr>
        <p:grpSpPr>
          <a:xfrm>
            <a:off x="5184971" y="1572156"/>
            <a:ext cx="1490223" cy="2926169"/>
            <a:chOff x="5215847" y="1063607"/>
            <a:chExt cx="1792671" cy="3520046"/>
          </a:xfrm>
        </p:grpSpPr>
        <p:cxnSp>
          <p:nvCxnSpPr>
            <p:cNvPr id="20" name="爱设计-12-1">
              <a:extLst>
                <a:ext uri="{FF2B5EF4-FFF2-40B4-BE49-F238E27FC236}">
                  <a16:creationId xmlns:a16="http://schemas.microsoft.com/office/drawing/2014/main" id="{125F35F9-E8C0-C425-0652-1A9C04A2EB28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爱设计-12-2">
              <a:extLst>
                <a:ext uri="{FF2B5EF4-FFF2-40B4-BE49-F238E27FC236}">
                  <a16:creationId xmlns:a16="http://schemas.microsoft.com/office/drawing/2014/main" id="{0B188E32-BE78-4FFC-12A4-160B8EEADBA6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 flipV="1">
              <a:off x="5523854" y="1748603"/>
              <a:ext cx="588330" cy="38829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爱设计-12-3">
              <a:extLst>
                <a:ext uri="{FF2B5EF4-FFF2-40B4-BE49-F238E27FC236}">
                  <a16:creationId xmlns:a16="http://schemas.microsoft.com/office/drawing/2014/main" id="{397B2F57-F12E-E8E1-6B35-12B109ACC229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 flipV="1">
              <a:off x="6135454" y="1762126"/>
              <a:ext cx="567840" cy="374773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爱设计-12-4">
              <a:extLst>
                <a:ext uri="{FF2B5EF4-FFF2-40B4-BE49-F238E27FC236}">
                  <a16:creationId xmlns:a16="http://schemas.microsoft.com/office/drawing/2014/main" id="{56EF87FB-C199-5330-A105-5EDE905F695A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6112182" y="3003128"/>
              <a:ext cx="2" cy="104145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爱设计-12-5">
              <a:extLst>
                <a:ext uri="{FF2B5EF4-FFF2-40B4-BE49-F238E27FC236}">
                  <a16:creationId xmlns:a16="http://schemas.microsoft.com/office/drawing/2014/main" id="{92E93007-2B09-4566-2DD4-1FF2BC2561B9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 flipV="1">
              <a:off x="5215847" y="4044591"/>
              <a:ext cx="893495" cy="539062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5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爱设计-12-6">
              <a:extLst>
                <a:ext uri="{FF2B5EF4-FFF2-40B4-BE49-F238E27FC236}">
                  <a16:creationId xmlns:a16="http://schemas.microsoft.com/office/drawing/2014/main" id="{2614A2F6-0A7A-B7A4-2F81-D5FCF52CF0F7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 flipV="1">
              <a:off x="6121762" y="4048654"/>
              <a:ext cx="886756" cy="53499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爱设计-13">
            <a:extLst>
              <a:ext uri="{FF2B5EF4-FFF2-40B4-BE49-F238E27FC236}">
                <a16:creationId xmlns:a16="http://schemas.microsoft.com/office/drawing/2014/main" id="{95810F38-DEC2-1120-DE92-827AAFD4A440}"/>
              </a:ext>
            </a:extLst>
          </p:cNvPr>
          <p:cNvSpPr/>
          <p:nvPr/>
        </p:nvSpPr>
        <p:spPr>
          <a:xfrm rot="16200000">
            <a:off x="6962409" y="4561553"/>
            <a:ext cx="1137327" cy="9804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27" name="爱设计-14">
            <a:extLst>
              <a:ext uri="{FF2B5EF4-FFF2-40B4-BE49-F238E27FC236}">
                <a16:creationId xmlns:a16="http://schemas.microsoft.com/office/drawing/2014/main" id="{5FE399D6-E2BF-CBDD-6C59-E9C4AB11C6FD}"/>
              </a:ext>
            </a:extLst>
          </p:cNvPr>
          <p:cNvGrpSpPr/>
          <p:nvPr/>
        </p:nvGrpSpPr>
        <p:grpSpPr>
          <a:xfrm>
            <a:off x="7040847" y="4487090"/>
            <a:ext cx="980455" cy="892215"/>
            <a:chOff x="5523853" y="1063607"/>
            <a:chExt cx="1179443" cy="1073293"/>
          </a:xfrm>
        </p:grpSpPr>
        <p:cxnSp>
          <p:nvCxnSpPr>
            <p:cNvPr id="28" name="爱设计-14-1">
              <a:extLst>
                <a:ext uri="{FF2B5EF4-FFF2-40B4-BE49-F238E27FC236}">
                  <a16:creationId xmlns:a16="http://schemas.microsoft.com/office/drawing/2014/main" id="{9324010A-49B0-3C5B-22E0-0923919925D8}"/>
                </a:ext>
              </a:extLst>
            </p:cNvPr>
            <p:cNvCxnSpPr>
              <a:cxnSpLocks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爱设计-14-2">
              <a:extLst>
                <a:ext uri="{FF2B5EF4-FFF2-40B4-BE49-F238E27FC236}">
                  <a16:creationId xmlns:a16="http://schemas.microsoft.com/office/drawing/2014/main" id="{EB7918CA-01E6-337B-2513-3FD3AA572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3853" y="1748601"/>
              <a:ext cx="588331" cy="38829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爱设计-14-3">
              <a:extLst>
                <a:ext uri="{FF2B5EF4-FFF2-40B4-BE49-F238E27FC236}">
                  <a16:creationId xmlns:a16="http://schemas.microsoft.com/office/drawing/2014/main" id="{8C4554E2-9871-3677-8870-D55A174990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455" y="1762125"/>
              <a:ext cx="567841" cy="37477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爱设计-15">
            <a:extLst>
              <a:ext uri="{FF2B5EF4-FFF2-40B4-BE49-F238E27FC236}">
                <a16:creationId xmlns:a16="http://schemas.microsoft.com/office/drawing/2014/main" id="{87FA5F9A-FFE9-D94F-0635-6EA9F272D811}"/>
              </a:ext>
            </a:extLst>
          </p:cNvPr>
          <p:cNvSpPr/>
          <p:nvPr/>
        </p:nvSpPr>
        <p:spPr>
          <a:xfrm rot="16200000">
            <a:off x="3744234" y="4572432"/>
            <a:ext cx="1137327" cy="9804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32" name="爱设计-16">
            <a:extLst>
              <a:ext uri="{FF2B5EF4-FFF2-40B4-BE49-F238E27FC236}">
                <a16:creationId xmlns:a16="http://schemas.microsoft.com/office/drawing/2014/main" id="{473DB269-FC7F-CF06-AF40-27B2DC0F5019}"/>
              </a:ext>
            </a:extLst>
          </p:cNvPr>
          <p:cNvGrpSpPr/>
          <p:nvPr/>
        </p:nvGrpSpPr>
        <p:grpSpPr>
          <a:xfrm>
            <a:off x="3823532" y="4500778"/>
            <a:ext cx="980455" cy="892215"/>
            <a:chOff x="5523853" y="1063607"/>
            <a:chExt cx="1179443" cy="1073293"/>
          </a:xfrm>
        </p:grpSpPr>
        <p:cxnSp>
          <p:nvCxnSpPr>
            <p:cNvPr id="33" name="爱设计-16-1">
              <a:extLst>
                <a:ext uri="{FF2B5EF4-FFF2-40B4-BE49-F238E27FC236}">
                  <a16:creationId xmlns:a16="http://schemas.microsoft.com/office/drawing/2014/main" id="{00743F02-3A6B-6DE3-1349-3AF72FA7643F}"/>
                </a:ext>
              </a:extLst>
            </p:cNvPr>
            <p:cNvCxnSpPr>
              <a:cxnSpLocks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爱设计-16-2">
              <a:extLst>
                <a:ext uri="{FF2B5EF4-FFF2-40B4-BE49-F238E27FC236}">
                  <a16:creationId xmlns:a16="http://schemas.microsoft.com/office/drawing/2014/main" id="{001F451C-DE93-1EE4-A9F7-65B1E81C39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3853" y="1748601"/>
              <a:ext cx="588331" cy="38829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爱设计-16-3">
              <a:extLst>
                <a:ext uri="{FF2B5EF4-FFF2-40B4-BE49-F238E27FC236}">
                  <a16:creationId xmlns:a16="http://schemas.microsoft.com/office/drawing/2014/main" id="{48C33F82-79D4-FFF9-83FE-A820E44505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455" y="1762125"/>
              <a:ext cx="567841" cy="37477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爱设计-17">
            <a:extLst>
              <a:ext uri="{FF2B5EF4-FFF2-40B4-BE49-F238E27FC236}">
                <a16:creationId xmlns:a16="http://schemas.microsoft.com/office/drawing/2014/main" id="{FD0904C8-90BC-3E37-6F00-87BDF29AE015}"/>
              </a:ext>
            </a:extLst>
          </p:cNvPr>
          <p:cNvSpPr txBox="1"/>
          <p:nvPr/>
        </p:nvSpPr>
        <p:spPr>
          <a:xfrm>
            <a:off x="2771772" y="46841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先记录，不分析</a:t>
            </a:r>
          </a:p>
        </p:txBody>
      </p:sp>
      <p:sp>
        <p:nvSpPr>
          <p:cNvPr id="37" name="爱设计-18">
            <a:extLst>
              <a:ext uri="{FF2B5EF4-FFF2-40B4-BE49-F238E27FC236}">
                <a16:creationId xmlns:a16="http://schemas.microsoft.com/office/drawing/2014/main" id="{414BAE67-791D-331D-2926-D67301A28974}"/>
              </a:ext>
            </a:extLst>
          </p:cNvPr>
          <p:cNvSpPr txBox="1">
            <a:spLocks/>
          </p:cNvSpPr>
          <p:nvPr/>
        </p:nvSpPr>
        <p:spPr>
          <a:xfrm>
            <a:off x="660400" y="5040899"/>
            <a:ext cx="3084313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先把 AI 锁成记录员，避免过早脑补方案。</a:t>
            </a:r>
          </a:p>
        </p:txBody>
      </p:sp>
      <p:sp>
        <p:nvSpPr>
          <p:cNvPr id="38" name="爱设计-19">
            <a:extLst>
              <a:ext uri="{FF2B5EF4-FFF2-40B4-BE49-F238E27FC236}">
                <a16:creationId xmlns:a16="http://schemas.microsoft.com/office/drawing/2014/main" id="{BE0A3FA0-B492-4A05-8457-E8257DF920F2}"/>
              </a:ext>
            </a:extLst>
          </p:cNvPr>
          <p:cNvSpPr txBox="1"/>
          <p:nvPr/>
        </p:nvSpPr>
        <p:spPr>
          <a:xfrm>
            <a:off x="6580354" y="17512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先三方对照</a:t>
            </a:r>
          </a:p>
        </p:txBody>
      </p:sp>
      <p:sp>
        <p:nvSpPr>
          <p:cNvPr id="39" name="爱设计-20">
            <a:extLst>
              <a:ext uri="{FF2B5EF4-FFF2-40B4-BE49-F238E27FC236}">
                <a16:creationId xmlns:a16="http://schemas.microsoft.com/office/drawing/2014/main" id="{B2FC2010-A694-9DC1-B9D0-D2E7C576DC75}"/>
              </a:ext>
            </a:extLst>
          </p:cNvPr>
          <p:cNvSpPr txBox="1">
            <a:spLocks/>
          </p:cNvSpPr>
          <p:nvPr/>
        </p:nvSpPr>
        <p:spPr>
          <a:xfrm>
            <a:off x="6580355" y="2109929"/>
            <a:ext cx="4096886" cy="596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原始需求、代码、PRD 一起核，先暴露差异。</a:t>
            </a:r>
          </a:p>
        </p:txBody>
      </p:sp>
      <p:sp>
        <p:nvSpPr>
          <p:cNvPr id="40" name="爱设计-21">
            <a:extLst>
              <a:ext uri="{FF2B5EF4-FFF2-40B4-BE49-F238E27FC236}">
                <a16:creationId xmlns:a16="http://schemas.microsoft.com/office/drawing/2014/main" id="{5FB7A07F-9384-CE92-B275-6139DC668D25}"/>
              </a:ext>
            </a:extLst>
          </p:cNvPr>
          <p:cNvSpPr txBox="1"/>
          <p:nvPr/>
        </p:nvSpPr>
        <p:spPr>
          <a:xfrm>
            <a:off x="8094733" y="466662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范围压小，再让 AI 展开</a:t>
            </a:r>
          </a:p>
        </p:txBody>
      </p:sp>
      <p:sp>
        <p:nvSpPr>
          <p:cNvPr id="41" name="爱设计-22">
            <a:extLst>
              <a:ext uri="{FF2B5EF4-FFF2-40B4-BE49-F238E27FC236}">
                <a16:creationId xmlns:a16="http://schemas.microsoft.com/office/drawing/2014/main" id="{F0845B9B-814F-B1FA-C1D0-1680052AAF1D}"/>
              </a:ext>
            </a:extLst>
          </p:cNvPr>
          <p:cNvSpPr txBox="1">
            <a:spLocks/>
          </p:cNvSpPr>
          <p:nvPr/>
        </p:nvSpPr>
        <p:spPr>
          <a:xfrm>
            <a:off x="8094733" y="4998118"/>
            <a:ext cx="2977063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边界越清楚，AI 越稳定。</a:t>
            </a:r>
          </a:p>
        </p:txBody>
      </p:sp>
      <p:sp>
        <p:nvSpPr>
          <p:cNvPr id="42" name="爱设计-23">
            <a:extLst>
              <a:ext uri="{FF2B5EF4-FFF2-40B4-BE49-F238E27FC236}">
                <a16:creationId xmlns:a16="http://schemas.microsoft.com/office/drawing/2014/main" id="{DB45E05C-0DAC-F579-614F-7A0CD38A6C75}"/>
              </a:ext>
            </a:extLst>
          </p:cNvPr>
          <p:cNvSpPr/>
          <p:nvPr/>
        </p:nvSpPr>
        <p:spPr>
          <a:xfrm>
            <a:off x="5753057" y="1961783"/>
            <a:ext cx="369979" cy="369979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3" name="爱设计-24">
            <a:extLst>
              <a:ext uri="{FF2B5EF4-FFF2-40B4-BE49-F238E27FC236}">
                <a16:creationId xmlns:a16="http://schemas.microsoft.com/office/drawing/2014/main" id="{96178082-4411-7876-E67E-C1863CC7A46E}"/>
              </a:ext>
            </a:extLst>
          </p:cNvPr>
          <p:cNvSpPr/>
          <p:nvPr/>
        </p:nvSpPr>
        <p:spPr>
          <a:xfrm>
            <a:off x="4130969" y="4885822"/>
            <a:ext cx="383864" cy="336067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4" name="爱设计-25">
            <a:extLst>
              <a:ext uri="{FF2B5EF4-FFF2-40B4-BE49-F238E27FC236}">
                <a16:creationId xmlns:a16="http://schemas.microsoft.com/office/drawing/2014/main" id="{C9CA8879-F2F5-4338-BAE1-68DB761B6443}"/>
              </a:ext>
            </a:extLst>
          </p:cNvPr>
          <p:cNvSpPr/>
          <p:nvPr/>
        </p:nvSpPr>
        <p:spPr>
          <a:xfrm>
            <a:off x="7381092" y="4882256"/>
            <a:ext cx="297651" cy="309509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5" name="爱设计-26">
            <a:extLst>
              <a:ext uri="{FF2B5EF4-FFF2-40B4-BE49-F238E27FC236}">
                <a16:creationId xmlns:a16="http://schemas.microsoft.com/office/drawing/2014/main" id="{5670EB55-B34E-394C-73FD-809F98593627}"/>
              </a:ext>
            </a:extLst>
          </p:cNvPr>
          <p:cNvSpPr/>
          <p:nvPr/>
        </p:nvSpPr>
        <p:spPr>
          <a:xfrm>
            <a:off x="5677038" y="3769631"/>
            <a:ext cx="506088" cy="50608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1544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t>协作指令模式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Prompting Patterns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B57D7A63-65B4-DFA2-59E9-2C958EAD0081}"/>
              </a:ext>
            </a:extLst>
          </p:cNvPr>
          <p:cNvGrpSpPr/>
          <p:nvPr/>
        </p:nvGrpSpPr>
        <p:grpSpPr>
          <a:xfrm>
            <a:off x="0" y="-2656839"/>
            <a:ext cx="12192000" cy="12191998"/>
            <a:chOff x="292389" y="-2323280"/>
            <a:chExt cx="11607222" cy="11607220"/>
          </a:xfrm>
          <a:scene3d>
            <a:camera prst="perspectiveRelaxedModerately">
              <a:rot lat="17388000" lon="0" rev="0"/>
            </a:camera>
            <a:lightRig rig="threePt" dir="t"/>
          </a:scene3d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B531C5FB-FB79-AB73-3605-8D5A50892F27}"/>
                </a:ext>
              </a:extLst>
            </p:cNvPr>
            <p:cNvSpPr/>
            <p:nvPr/>
          </p:nvSpPr>
          <p:spPr>
            <a:xfrm>
              <a:off x="4007305" y="1391634"/>
              <a:ext cx="4177391" cy="417739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3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B14FF850-DAC9-71C1-128B-0B34F09B0885}"/>
                </a:ext>
              </a:extLst>
            </p:cNvPr>
            <p:cNvSpPr/>
            <p:nvPr/>
          </p:nvSpPr>
          <p:spPr>
            <a:xfrm>
              <a:off x="4420073" y="1804402"/>
              <a:ext cx="3351855" cy="335185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5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A729CF1A-ED0C-F901-8611-9FCB9924A202}"/>
                </a:ext>
              </a:extLst>
            </p:cNvPr>
            <p:cNvSpPr/>
            <p:nvPr userDrawn="1"/>
          </p:nvSpPr>
          <p:spPr>
            <a:xfrm>
              <a:off x="5260667" y="2644998"/>
              <a:ext cx="1670666" cy="167066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9" name="爱设计-4-4">
              <a:extLst>
                <a:ext uri="{FF2B5EF4-FFF2-40B4-BE49-F238E27FC236}">
                  <a16:creationId xmlns:a16="http://schemas.microsoft.com/office/drawing/2014/main" id="{09E4179F-35C0-EB7E-D024-3A147ABCB1C9}"/>
                </a:ext>
              </a:extLst>
            </p:cNvPr>
            <p:cNvSpPr/>
            <p:nvPr/>
          </p:nvSpPr>
          <p:spPr>
            <a:xfrm>
              <a:off x="292389" y="-2323280"/>
              <a:ext cx="11607222" cy="11607220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alpha val="5000"/>
                </a:sysClr>
              </a:solidFill>
              <a:prstDash val="solid"/>
              <a:miter lim="800000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爱设计-4-5">
              <a:extLst>
                <a:ext uri="{FF2B5EF4-FFF2-40B4-BE49-F238E27FC236}">
                  <a16:creationId xmlns:a16="http://schemas.microsoft.com/office/drawing/2014/main" id="{00794204-74DD-57FC-1EFC-4BFC5E5B9385}"/>
                </a:ext>
              </a:extLst>
            </p:cNvPr>
            <p:cNvSpPr/>
            <p:nvPr/>
          </p:nvSpPr>
          <p:spPr>
            <a:xfrm>
              <a:off x="705158" y="-1910511"/>
              <a:ext cx="10781685" cy="1078168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1" name="爱设计-4-6">
              <a:extLst>
                <a:ext uri="{FF2B5EF4-FFF2-40B4-BE49-F238E27FC236}">
                  <a16:creationId xmlns:a16="http://schemas.microsoft.com/office/drawing/2014/main" id="{2007776E-F36D-EC6B-12B0-1CC51BD3C409}"/>
                </a:ext>
              </a:extLst>
            </p:cNvPr>
            <p:cNvSpPr/>
            <p:nvPr/>
          </p:nvSpPr>
          <p:spPr>
            <a:xfrm>
              <a:off x="1117926" y="-1497743"/>
              <a:ext cx="9956148" cy="995614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9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爱设计-4-7">
              <a:extLst>
                <a:ext uri="{FF2B5EF4-FFF2-40B4-BE49-F238E27FC236}">
                  <a16:creationId xmlns:a16="http://schemas.microsoft.com/office/drawing/2014/main" id="{707720F4-94E5-C83A-A808-009D00F1D0EE}"/>
                </a:ext>
              </a:extLst>
            </p:cNvPr>
            <p:cNvSpPr/>
            <p:nvPr/>
          </p:nvSpPr>
          <p:spPr>
            <a:xfrm>
              <a:off x="1530694" y="-1084975"/>
              <a:ext cx="9130612" cy="9130611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1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3" name="爱设计-4-8">
              <a:extLst>
                <a:ext uri="{FF2B5EF4-FFF2-40B4-BE49-F238E27FC236}">
                  <a16:creationId xmlns:a16="http://schemas.microsoft.com/office/drawing/2014/main" id="{AEE6298D-F283-32E8-CAEE-5A7AC1D44A44}"/>
                </a:ext>
              </a:extLst>
            </p:cNvPr>
            <p:cNvSpPr/>
            <p:nvPr/>
          </p:nvSpPr>
          <p:spPr>
            <a:xfrm>
              <a:off x="1943463" y="-672207"/>
              <a:ext cx="8305074" cy="8305075"/>
            </a:xfrm>
            <a:prstGeom prst="ellipse">
              <a:avLst/>
            </a:prstGeom>
            <a:noFill/>
            <a:ln w="12700" cap="flat" cmpd="sng" algn="ctr">
              <a:solidFill>
                <a:schemeClr val="accent2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4" name="爱设计-4-9">
              <a:extLst>
                <a:ext uri="{FF2B5EF4-FFF2-40B4-BE49-F238E27FC236}">
                  <a16:creationId xmlns:a16="http://schemas.microsoft.com/office/drawing/2014/main" id="{3E71A376-171D-D525-11D8-98A6A7164FA2}"/>
                </a:ext>
              </a:extLst>
            </p:cNvPr>
            <p:cNvSpPr/>
            <p:nvPr/>
          </p:nvSpPr>
          <p:spPr>
            <a:xfrm>
              <a:off x="2768999" y="153329"/>
              <a:ext cx="6654002" cy="665400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5" name="爱设计-4-10">
              <a:extLst>
                <a:ext uri="{FF2B5EF4-FFF2-40B4-BE49-F238E27FC236}">
                  <a16:creationId xmlns:a16="http://schemas.microsoft.com/office/drawing/2014/main" id="{37A57A80-9128-EB40-04A6-B26D0EAFDC29}"/>
                </a:ext>
              </a:extLst>
            </p:cNvPr>
            <p:cNvSpPr/>
            <p:nvPr/>
          </p:nvSpPr>
          <p:spPr>
            <a:xfrm>
              <a:off x="3181768" y="566097"/>
              <a:ext cx="5828464" cy="582846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9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6" name="爱设计-4-11">
              <a:extLst>
                <a:ext uri="{FF2B5EF4-FFF2-40B4-BE49-F238E27FC236}">
                  <a16:creationId xmlns:a16="http://schemas.microsoft.com/office/drawing/2014/main" id="{83938C36-9AAB-7D23-0C77-7BE7234F1C74}"/>
                </a:ext>
              </a:extLst>
            </p:cNvPr>
            <p:cNvSpPr/>
            <p:nvPr/>
          </p:nvSpPr>
          <p:spPr>
            <a:xfrm>
              <a:off x="3594536" y="978866"/>
              <a:ext cx="5002929" cy="5002929"/>
            </a:xfrm>
            <a:prstGeom prst="ellipse">
              <a:avLst/>
            </a:prstGeom>
            <a:noFill/>
            <a:ln w="12700" cap="flat" cmpd="sng" algn="ctr">
              <a:solidFill>
                <a:schemeClr val="accent2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7" name="爱设计-4-12">
              <a:extLst>
                <a:ext uri="{FF2B5EF4-FFF2-40B4-BE49-F238E27FC236}">
                  <a16:creationId xmlns:a16="http://schemas.microsoft.com/office/drawing/2014/main" id="{078E1B43-17B1-2227-46A9-4861C6F86777}"/>
                </a:ext>
              </a:extLst>
            </p:cNvPr>
            <p:cNvSpPr/>
            <p:nvPr/>
          </p:nvSpPr>
          <p:spPr>
            <a:xfrm>
              <a:off x="4832841" y="2217171"/>
              <a:ext cx="2526318" cy="2526319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8" name="爱设计-4-13">
              <a:extLst>
                <a:ext uri="{FF2B5EF4-FFF2-40B4-BE49-F238E27FC236}">
                  <a16:creationId xmlns:a16="http://schemas.microsoft.com/office/drawing/2014/main" id="{5AD02216-89BD-3161-9A05-F050996EB69C}"/>
                </a:ext>
              </a:extLst>
            </p:cNvPr>
            <p:cNvSpPr/>
            <p:nvPr userDrawn="1"/>
          </p:nvSpPr>
          <p:spPr>
            <a:xfrm>
              <a:off x="2346036" y="-269634"/>
              <a:ext cx="7499928" cy="7499928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5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grpSp>
          <p:nvGrpSpPr>
            <p:cNvPr id="19" name="iṥ1iḋe">
              <a:extLst>
                <a:ext uri="{FF2B5EF4-FFF2-40B4-BE49-F238E27FC236}">
                  <a16:creationId xmlns:a16="http://schemas.microsoft.com/office/drawing/2014/main" id="{69DB8279-DF03-1B15-197E-4684F0122D30}"/>
                </a:ext>
              </a:extLst>
            </p:cNvPr>
            <p:cNvGrpSpPr/>
            <p:nvPr userDrawn="1"/>
          </p:nvGrpSpPr>
          <p:grpSpPr>
            <a:xfrm>
              <a:off x="5646420" y="3030750"/>
              <a:ext cx="899160" cy="899160"/>
              <a:chOff x="6793334" y="-1153238"/>
              <a:chExt cx="2679700" cy="2679700"/>
            </a:xfrm>
          </p:grpSpPr>
          <p:sp>
            <p:nvSpPr>
              <p:cNvPr id="20" name="爱设计-4-14">
                <a:extLst>
                  <a:ext uri="{FF2B5EF4-FFF2-40B4-BE49-F238E27FC236}">
                    <a16:creationId xmlns:a16="http://schemas.microsoft.com/office/drawing/2014/main" id="{38128F31-94DE-898E-6BC8-5802D91E076B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4646668"/>
                  <a:gd name="adj2" fmla="val 8730001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爱设计-4-15">
                <a:extLst>
                  <a:ext uri="{FF2B5EF4-FFF2-40B4-BE49-F238E27FC236}">
                    <a16:creationId xmlns:a16="http://schemas.microsoft.com/office/drawing/2014/main" id="{ACAF68AC-F520-A51D-8DC2-3C96DD863EC0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3441905"/>
                  <a:gd name="adj2" fmla="val 3960453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爱设计-4-16">
                <a:extLst>
                  <a:ext uri="{FF2B5EF4-FFF2-40B4-BE49-F238E27FC236}">
                    <a16:creationId xmlns:a16="http://schemas.microsoft.com/office/drawing/2014/main" id="{43848D6A-C694-7707-80AB-D56928AE1C79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14680362"/>
                  <a:gd name="adj2" fmla="val 2626351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爱设计-4-17">
                <a:extLst>
                  <a:ext uri="{FF2B5EF4-FFF2-40B4-BE49-F238E27FC236}">
                    <a16:creationId xmlns:a16="http://schemas.microsoft.com/office/drawing/2014/main" id="{AF6BB8D4-3843-CDE5-4C2F-0C8804DBDFDF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9481165"/>
                  <a:gd name="adj2" fmla="val 13738023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4" name="爱设计-5">
            <a:extLst>
              <a:ext uri="{FF2B5EF4-FFF2-40B4-BE49-F238E27FC236}">
                <a16:creationId xmlns:a16="http://schemas.microsoft.com/office/drawing/2014/main" id="{85120EA5-4BA8-39C2-5222-211BE13A46FF}"/>
              </a:ext>
            </a:extLst>
          </p:cNvPr>
          <p:cNvSpPr txBox="1"/>
          <p:nvPr/>
        </p:nvSpPr>
        <p:spPr>
          <a:xfrm>
            <a:off x="262983" y="3098148"/>
            <a:ext cx="2664298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实际有效</a:t>
            </a:r>
          </a:p>
        </p:txBody>
      </p:sp>
      <p:sp>
        <p:nvSpPr>
          <p:cNvPr id="25" name="爱设计-6">
            <a:extLst>
              <a:ext uri="{FF2B5EF4-FFF2-40B4-BE49-F238E27FC236}">
                <a16:creationId xmlns:a16="http://schemas.microsoft.com/office/drawing/2014/main" id="{38954F0C-1EE0-BD8D-8614-F0542F9B1C5C}"/>
              </a:ext>
            </a:extLst>
          </p:cNvPr>
          <p:cNvSpPr txBox="1"/>
          <p:nvPr/>
        </p:nvSpPr>
        <p:spPr>
          <a:xfrm>
            <a:off x="989839" y="275627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在我没有结束之前，你不用做任何分析，只接收和记录。</a:t>
            </a:r>
          </a:p>
        </p:txBody>
      </p:sp>
      <p:sp>
        <p:nvSpPr>
          <p:cNvPr id="26" name="爱设计-7">
            <a:extLst>
              <a:ext uri="{FF2B5EF4-FFF2-40B4-BE49-F238E27FC236}">
                <a16:creationId xmlns:a16="http://schemas.microsoft.com/office/drawing/2014/main" id="{76C4D044-F21A-B6F5-3E7C-7A45AA84F74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478791" y="376739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t>实际有效</a:t>
            </a:r>
          </a:p>
        </p:txBody>
      </p:sp>
      <p:sp>
        <p:nvSpPr>
          <p:cNvPr id="27" name="爱设计-8">
            <a:extLst>
              <a:ext uri="{FF2B5EF4-FFF2-40B4-BE49-F238E27FC236}">
                <a16:creationId xmlns:a16="http://schemas.microsoft.com/office/drawing/2014/main" id="{38FBE81A-C80C-92B0-927C-17038FE575C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584110" y="376739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t>结合代码和原始需求，对照 PRD 找问题。</a:t>
            </a:r>
          </a:p>
        </p:txBody>
      </p:sp>
      <p:sp>
        <p:nvSpPr>
          <p:cNvPr id="28" name="爱设计-9">
            <a:extLst>
              <a:ext uri="{FF2B5EF4-FFF2-40B4-BE49-F238E27FC236}">
                <a16:creationId xmlns:a16="http://schemas.microsoft.com/office/drawing/2014/main" id="{270209E4-946F-D4AE-8BE6-7F73CB02B3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549003" y="275627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t>实际有效</a:t>
            </a:r>
          </a:p>
        </p:txBody>
      </p:sp>
      <p:sp>
        <p:nvSpPr>
          <p:cNvPr id="29" name="爱设计-10">
            <a:extLst>
              <a:ext uri="{FF2B5EF4-FFF2-40B4-BE49-F238E27FC236}">
                <a16:creationId xmlns:a16="http://schemas.microsoft.com/office/drawing/2014/main" id="{6E927497-CC3C-2C32-B605-5FA2B4CD7F1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513897" y="4244579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t>先不改，先告诉我你准备怎么改。</a:t>
            </a:r>
          </a:p>
        </p:txBody>
      </p:sp>
      <p:sp>
        <p:nvSpPr>
          <p:cNvPr id="30" name="爱设计-11">
            <a:extLst>
              <a:ext uri="{FF2B5EF4-FFF2-40B4-BE49-F238E27FC236}">
                <a16:creationId xmlns:a16="http://schemas.microsoft.com/office/drawing/2014/main" id="{2E5DE687-B215-989F-72DD-1647633DD2A3}"/>
              </a:ext>
            </a:extLst>
          </p:cNvPr>
          <p:cNvSpPr txBox="1"/>
          <p:nvPr/>
        </p:nvSpPr>
        <p:spPr>
          <a:xfrm>
            <a:off x="3237842" y="3497739"/>
            <a:ext cx="2664298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实际有效</a:t>
            </a:r>
          </a:p>
        </p:txBody>
      </p:sp>
      <p:sp>
        <p:nvSpPr>
          <p:cNvPr id="31" name="爱设计-12">
            <a:extLst>
              <a:ext uri="{FF2B5EF4-FFF2-40B4-BE49-F238E27FC236}">
                <a16:creationId xmlns:a16="http://schemas.microsoft.com/office/drawing/2014/main" id="{8884D412-9859-38D8-9910-3D6C55FBB9D5}"/>
              </a:ext>
            </a:extLst>
          </p:cNvPr>
          <p:cNvSpPr txBox="1"/>
          <p:nvPr/>
        </p:nvSpPr>
        <p:spPr>
          <a:xfrm>
            <a:off x="3708217" y="3155861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手机端先不改，我们先改 PC 端，按照原型改。</a:t>
            </a:r>
          </a:p>
        </p:txBody>
      </p:sp>
      <p:sp>
        <p:nvSpPr>
          <p:cNvPr id="32" name="爱设计-13">
            <a:extLst>
              <a:ext uri="{FF2B5EF4-FFF2-40B4-BE49-F238E27FC236}">
                <a16:creationId xmlns:a16="http://schemas.microsoft.com/office/drawing/2014/main" id="{BFC9A912-5E17-4DD7-2875-25ED553DD5EE}"/>
              </a:ext>
            </a:extLst>
          </p:cNvPr>
          <p:cNvSpPr txBox="1"/>
          <p:nvPr/>
        </p:nvSpPr>
        <p:spPr>
          <a:xfrm>
            <a:off x="6285803" y="2159117"/>
            <a:ext cx="2664298" cy="52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容易带偏</a:t>
            </a:r>
          </a:p>
        </p:txBody>
      </p:sp>
      <p:sp>
        <p:nvSpPr>
          <p:cNvPr id="33" name="爱设计-14">
            <a:extLst>
              <a:ext uri="{FF2B5EF4-FFF2-40B4-BE49-F238E27FC236}">
                <a16:creationId xmlns:a16="http://schemas.microsoft.com/office/drawing/2014/main" id="{E1AC5680-D568-03D7-10DE-1F35D1C79AEC}"/>
              </a:ext>
            </a:extLst>
          </p:cNvPr>
          <p:cNvSpPr txBox="1"/>
          <p:nvPr/>
        </p:nvSpPr>
        <p:spPr>
          <a:xfrm>
            <a:off x="6756178" y="1817239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你思考下有什么改进方案。</a:t>
            </a:r>
          </a:p>
        </p:txBody>
      </p:sp>
      <p:sp>
        <p:nvSpPr>
          <p:cNvPr id="34" name="爱设计-15">
            <a:extLst>
              <a:ext uri="{FF2B5EF4-FFF2-40B4-BE49-F238E27FC236}">
                <a16:creationId xmlns:a16="http://schemas.microsoft.com/office/drawing/2014/main" id="{46673B50-58BC-9AE1-D41D-0533DA6E0719}"/>
              </a:ext>
            </a:extLst>
          </p:cNvPr>
          <p:cNvSpPr txBox="1"/>
          <p:nvPr/>
        </p:nvSpPr>
        <p:spPr>
          <a:xfrm>
            <a:off x="9318932" y="3098148"/>
            <a:ext cx="2664298" cy="52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容易带偏</a:t>
            </a:r>
          </a:p>
        </p:txBody>
      </p:sp>
      <p:sp>
        <p:nvSpPr>
          <p:cNvPr id="35" name="爱设计-16">
            <a:extLst>
              <a:ext uri="{FF2B5EF4-FFF2-40B4-BE49-F238E27FC236}">
                <a16:creationId xmlns:a16="http://schemas.microsoft.com/office/drawing/2014/main" id="{58863162-EC0D-48A7-217D-1C2E64A76BDF}"/>
              </a:ext>
            </a:extLst>
          </p:cNvPr>
          <p:cNvSpPr txBox="1"/>
          <p:nvPr/>
        </p:nvSpPr>
        <p:spPr>
          <a:xfrm>
            <a:off x="9917548" y="275627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你先把详情页原型改了，我看看效果。</a:t>
            </a:r>
          </a:p>
        </p:txBody>
      </p:sp>
      <p:sp>
        <p:nvSpPr>
          <p:cNvPr id="36" name="爱设计-17">
            <a:extLst>
              <a:ext uri="{FF2B5EF4-FFF2-40B4-BE49-F238E27FC236}">
                <a16:creationId xmlns:a16="http://schemas.microsoft.com/office/drawing/2014/main" id="{1D5AB5F7-DB1E-11AB-638D-087C2BF5D0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29417" y="5458713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t>一句话</a:t>
            </a:r>
          </a:p>
        </p:txBody>
      </p:sp>
      <p:sp>
        <p:nvSpPr>
          <p:cNvPr id="37" name="爱设计-18">
            <a:extLst>
              <a:ext uri="{FF2B5EF4-FFF2-40B4-BE49-F238E27FC236}">
                <a16:creationId xmlns:a16="http://schemas.microsoft.com/office/drawing/2014/main" id="{2FFE8052-D118-7D2D-8E47-05E61C20B431}"/>
              </a:ext>
            </a:extLst>
          </p:cNvPr>
          <p:cNvSpPr txBox="1"/>
          <p:nvPr/>
        </p:nvSpPr>
        <p:spPr>
          <a:xfrm>
            <a:off x="5250589" y="4815351"/>
            <a:ext cx="3324804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好指令的核心不是更复杂，而是边界更清楚、阶段更明确。</a:t>
            </a:r>
          </a:p>
        </p:txBody>
      </p:sp>
      <p:sp>
        <p:nvSpPr>
          <p:cNvPr id="38" name="爱设计-19">
            <a:extLst>
              <a:ext uri="{FF2B5EF4-FFF2-40B4-BE49-F238E27FC236}">
                <a16:creationId xmlns:a16="http://schemas.microsoft.com/office/drawing/2014/main" id="{E247C7CE-D08E-E6AC-A8E3-228CA5D3D710}"/>
              </a:ext>
            </a:extLst>
          </p:cNvPr>
          <p:cNvSpPr txBox="1"/>
          <p:nvPr/>
        </p:nvSpPr>
        <p:spPr>
          <a:xfrm>
            <a:off x="6039643" y="4473473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爱设计-1">
            <a:extLst>
              <a:ext uri="{FF2B5EF4-FFF2-40B4-BE49-F238E27FC236}">
                <a16:creationId xmlns:a16="http://schemas.microsoft.com/office/drawing/2014/main" id="{69BDB890-05E4-AAC3-EA00-B02104C8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61" name="爱设计-2">
            <a:extLst>
              <a:ext uri="{FF2B5EF4-FFF2-40B4-BE49-F238E27FC236}">
                <a16:creationId xmlns:a16="http://schemas.microsoft.com/office/drawing/2014/main" id="{83A74EAF-E1FD-8CCC-20C6-4219D06D4DA1}"/>
              </a:ext>
            </a:extLst>
          </p:cNvPr>
          <p:cNvGrpSpPr/>
          <p:nvPr/>
        </p:nvGrpSpPr>
        <p:grpSpPr>
          <a:xfrm>
            <a:off x="0" y="752353"/>
            <a:ext cx="12557108" cy="6105647"/>
            <a:chOff x="-1" y="752353"/>
            <a:chExt cx="12557108" cy="6105647"/>
          </a:xfrm>
        </p:grpSpPr>
        <p:pic>
          <p:nvPicPr>
            <p:cNvPr id="5" name="爱设计-2-1">
              <a:extLst>
                <a:ext uri="{FF2B5EF4-FFF2-40B4-BE49-F238E27FC236}">
                  <a16:creationId xmlns:a16="http://schemas.microsoft.com/office/drawing/2014/main" id="{B273C463-F06A-C115-7EF9-ADB6E27EE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56" y="752353"/>
              <a:ext cx="6506751" cy="5983723"/>
            </a:xfrm>
            <a:prstGeom prst="rect">
              <a:avLst/>
            </a:prstGeom>
          </p:spPr>
        </p:pic>
        <p:pic>
          <p:nvPicPr>
            <p:cNvPr id="11" name="爱设计-2-2">
              <a:extLst>
                <a:ext uri="{FF2B5EF4-FFF2-40B4-BE49-F238E27FC236}">
                  <a16:creationId xmlns:a16="http://schemas.microsoft.com/office/drawing/2014/main" id="{A4AEBEE3-E0E6-2D1A-CAD3-9C02EA1F1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" y="4097438"/>
              <a:ext cx="5197671" cy="2760562"/>
            </a:xfrm>
            <a:prstGeom prst="rect">
              <a:avLst/>
            </a:prstGeom>
          </p:spPr>
        </p:pic>
      </p:grpSp>
      <p:grpSp>
        <p:nvGrpSpPr>
          <p:cNvPr id="26" name="爱设计-3">
            <a:extLst>
              <a:ext uri="{FF2B5EF4-FFF2-40B4-BE49-F238E27FC236}">
                <a16:creationId xmlns:a16="http://schemas.microsoft.com/office/drawing/2014/main" id="{EFC014F0-E6AF-994A-F981-9F5650839E8E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24" name="爱设计-3-1">
              <a:extLst>
                <a:ext uri="{FF2B5EF4-FFF2-40B4-BE49-F238E27FC236}">
                  <a16:creationId xmlns:a16="http://schemas.microsoft.com/office/drawing/2014/main" id="{C8985849-A779-8FEB-C673-CC800C35B261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爱设计-3-2">
              <a:extLst>
                <a:ext uri="{FF2B5EF4-FFF2-40B4-BE49-F238E27FC236}">
                  <a16:creationId xmlns:a16="http://schemas.microsoft.com/office/drawing/2014/main" id="{0CC030AC-1E05-588E-D30C-9C566324A50C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爱设计-4">
            <a:extLst>
              <a:ext uri="{FF2B5EF4-FFF2-40B4-BE49-F238E27FC236}">
                <a16:creationId xmlns:a16="http://schemas.microsoft.com/office/drawing/2014/main" id="{5E31CAFF-BFFD-2EE6-B710-90591FC5BE79}"/>
              </a:ext>
            </a:extLst>
          </p:cNvPr>
          <p:cNvGrpSpPr/>
          <p:nvPr/>
        </p:nvGrpSpPr>
        <p:grpSpPr>
          <a:xfrm>
            <a:off x="576092" y="520185"/>
            <a:ext cx="10914614" cy="452688"/>
            <a:chOff x="576092" y="635935"/>
            <a:chExt cx="10914614" cy="452688"/>
          </a:xfrm>
        </p:grpSpPr>
        <p:sp>
          <p:nvSpPr>
            <p:cNvPr id="46" name="爱设计-4-1">
              <a:extLst>
                <a:ext uri="{FF2B5EF4-FFF2-40B4-BE49-F238E27FC236}">
                  <a16:creationId xmlns:a16="http://schemas.microsoft.com/office/drawing/2014/main" id="{B1F6D822-D413-DAD0-BD43-BE7071A359BD}"/>
                </a:ext>
              </a:extLst>
            </p:cNvPr>
            <p:cNvSpPr txBox="1">
              <a:spLocks/>
            </p:cNvSpPr>
            <p:nvPr/>
          </p:nvSpPr>
          <p:spPr>
            <a:xfrm>
              <a:off x="576092" y="635935"/>
              <a:ext cx="3706507" cy="4526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589" indent="-228589" algn="l" defTabSz="91435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76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4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20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298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474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54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Pellentesque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Habitant Morbi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Tristique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Senectus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Netus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Malesuada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Fames Ac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Turpis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Egestas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. </a:t>
              </a:r>
            </a:p>
          </p:txBody>
        </p:sp>
        <p:grpSp>
          <p:nvGrpSpPr>
            <p:cNvPr id="47" name="爱设计-9">
              <a:extLst>
                <a:ext uri="{FF2B5EF4-FFF2-40B4-BE49-F238E27FC236}">
                  <a16:creationId xmlns:a16="http://schemas.microsoft.com/office/drawing/2014/main" id="{049D0B45-0600-35D0-1CCE-26005F2E0A49}"/>
                </a:ext>
              </a:extLst>
            </p:cNvPr>
            <p:cNvGrpSpPr/>
            <p:nvPr/>
          </p:nvGrpSpPr>
          <p:grpSpPr>
            <a:xfrm>
              <a:off x="11267027" y="705435"/>
              <a:ext cx="223679" cy="143861"/>
              <a:chOff x="10749120" y="871596"/>
              <a:chExt cx="223679" cy="143861"/>
            </a:xfrm>
          </p:grpSpPr>
          <p:cxnSp>
            <p:nvCxnSpPr>
              <p:cNvPr id="48" name="爱设计-4-2">
                <a:extLst>
                  <a:ext uri="{FF2B5EF4-FFF2-40B4-BE49-F238E27FC236}">
                    <a16:creationId xmlns:a16="http://schemas.microsoft.com/office/drawing/2014/main" id="{6C6896D2-25F8-3B65-D2A6-CA618522F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101545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49" name="爱设计-4-3">
                <a:extLst>
                  <a:ext uri="{FF2B5EF4-FFF2-40B4-BE49-F238E27FC236}">
                    <a16:creationId xmlns:a16="http://schemas.microsoft.com/office/drawing/2014/main" id="{C31B755B-296D-F774-7A3D-1A64E634D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94352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accent1"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50" name="爱设计-4-4">
                <a:extLst>
                  <a:ext uri="{FF2B5EF4-FFF2-40B4-BE49-F238E27FC236}">
                    <a16:creationId xmlns:a16="http://schemas.microsoft.com/office/drawing/2014/main" id="{9F783300-EC82-D417-4974-39F5693CD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871596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</p:grpSp>
      </p:grpSp>
      <p:sp>
        <p:nvSpPr>
          <p:cNvPr id="37" name="爱设计-5">
            <a:extLst>
              <a:ext uri="{FF2B5EF4-FFF2-40B4-BE49-F238E27FC236}">
                <a16:creationId xmlns:a16="http://schemas.microsoft.com/office/drawing/2014/main" id="{B9A81D67-BD34-F0E8-D58E-5855E7FCB08C}"/>
              </a:ext>
            </a:extLst>
          </p:cNvPr>
          <p:cNvSpPr txBox="1">
            <a:spLocks/>
          </p:cNvSpPr>
          <p:nvPr/>
        </p:nvSpPr>
        <p:spPr>
          <a:xfrm>
            <a:off x="530372" y="1501838"/>
            <a:ext cx="7702881" cy="240065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t>最后想传递的结论</a:t>
            </a:r>
          </a:p>
          <a:p>
            <a:r>
              <a:t>THANK YOU.</a:t>
            </a:r>
          </a:p>
        </p:txBody>
      </p:sp>
      <p:grpSp>
        <p:nvGrpSpPr>
          <p:cNvPr id="22" name="爱设计-6">
            <a:extLst>
              <a:ext uri="{FF2B5EF4-FFF2-40B4-BE49-F238E27FC236}">
                <a16:creationId xmlns:a16="http://schemas.microsoft.com/office/drawing/2014/main" id="{86AF6A5C-6B3B-7F1C-53C6-D1F6C226AB5A}"/>
              </a:ext>
            </a:extLst>
          </p:cNvPr>
          <p:cNvGrpSpPr/>
          <p:nvPr/>
        </p:nvGrpSpPr>
        <p:grpSpPr>
          <a:xfrm>
            <a:off x="608350" y="4590634"/>
            <a:ext cx="1853418" cy="504130"/>
            <a:chOff x="625666" y="3665240"/>
            <a:chExt cx="1989813" cy="614018"/>
          </a:xfrm>
        </p:grpSpPr>
        <p:pic>
          <p:nvPicPr>
            <p:cNvPr id="14" name="爱设计-6-1">
              <a:extLst>
                <a:ext uri="{FF2B5EF4-FFF2-40B4-BE49-F238E27FC236}">
                  <a16:creationId xmlns:a16="http://schemas.microsoft.com/office/drawing/2014/main" id="{AAD6F6E7-96C3-10CB-18D7-750AF3B03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18" name="爱设计-6-2">
              <a:extLst>
                <a:ext uri="{FF2B5EF4-FFF2-40B4-BE49-F238E27FC236}">
                  <a16:creationId xmlns:a16="http://schemas.microsoft.com/office/drawing/2014/main" id="{608AC001-856C-EF4E-5F73-626E6E6BB2BC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汇报人： 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ISHEJI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38" name="爱设计-7">
            <a:extLst>
              <a:ext uri="{FF2B5EF4-FFF2-40B4-BE49-F238E27FC236}">
                <a16:creationId xmlns:a16="http://schemas.microsoft.com/office/drawing/2014/main" id="{5EB53F5A-4FC3-F9D3-C5D5-588DB6DC7C98}"/>
              </a:ext>
            </a:extLst>
          </p:cNvPr>
          <p:cNvSpPr txBox="1">
            <a:spLocks/>
          </p:cNvSpPr>
          <p:nvPr/>
        </p:nvSpPr>
        <p:spPr>
          <a:xfrm>
            <a:off x="566964" y="4158772"/>
            <a:ext cx="4630707" cy="287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AI-ENABLED PRODUCT ITERATION</a:t>
            </a:r>
          </a:p>
        </p:txBody>
      </p:sp>
      <p:cxnSp>
        <p:nvCxnSpPr>
          <p:cNvPr id="39" name="爱设计-8">
            <a:extLst>
              <a:ext uri="{FF2B5EF4-FFF2-40B4-BE49-F238E27FC236}">
                <a16:creationId xmlns:a16="http://schemas.microsoft.com/office/drawing/2014/main" id="{F8E08C62-E408-7086-C2E3-F77147935619}"/>
              </a:ext>
            </a:extLst>
          </p:cNvPr>
          <p:cNvCxnSpPr/>
          <p:nvPr/>
        </p:nvCxnSpPr>
        <p:spPr>
          <a:xfrm>
            <a:off x="651022" y="3969454"/>
            <a:ext cx="4826421" cy="0"/>
          </a:xfrm>
          <a:prstGeom prst="line">
            <a:avLst/>
          </a:prstGeom>
          <a:ln w="571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爱设计-9">
            <a:extLst>
              <a:ext uri="{FF2B5EF4-FFF2-40B4-BE49-F238E27FC236}">
                <a16:creationId xmlns:a16="http://schemas.microsoft.com/office/drawing/2014/main" id="{AFAEEAFD-5DF3-92FA-627D-A61B60928C97}"/>
              </a:ext>
            </a:extLst>
          </p:cNvPr>
          <p:cNvGrpSpPr/>
          <p:nvPr/>
        </p:nvGrpSpPr>
        <p:grpSpPr>
          <a:xfrm>
            <a:off x="2614037" y="4590634"/>
            <a:ext cx="1853418" cy="504130"/>
            <a:chOff x="625666" y="3665240"/>
            <a:chExt cx="1989813" cy="614018"/>
          </a:xfrm>
        </p:grpSpPr>
        <p:pic>
          <p:nvPicPr>
            <p:cNvPr id="63" name="爱设计-9-1">
              <a:extLst>
                <a:ext uri="{FF2B5EF4-FFF2-40B4-BE49-F238E27FC236}">
                  <a16:creationId xmlns:a16="http://schemas.microsoft.com/office/drawing/2014/main" id="{5876B847-E0A5-CC8E-E63F-06598A7C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64" name="爱设计-9-2">
              <a:extLst>
                <a:ext uri="{FF2B5EF4-FFF2-40B4-BE49-F238E27FC236}">
                  <a16:creationId xmlns:a16="http://schemas.microsoft.com/office/drawing/2014/main" id="{EF16E2B4-BBB9-6804-DCD1-160B96D9FB97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时间：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202X.1.1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69" name="爱设计-10">
            <a:extLst>
              <a:ext uri="{FF2B5EF4-FFF2-40B4-BE49-F238E27FC236}">
                <a16:creationId xmlns:a16="http://schemas.microsoft.com/office/drawing/2014/main" id="{3CACE4AD-5688-5D5B-C58A-23B6EFE45922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AI 的价值，不在于替产品经理做产品，而在于帮你更快地整理、比对、同步和暴露问题。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模板标准文件">
  <a:themeElements>
    <a:clrScheme name="自定义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894CE"/>
      </a:accent1>
      <a:accent2>
        <a:srgbClr val="6894CE"/>
      </a:accent2>
      <a:accent3>
        <a:srgbClr val="6894CE"/>
      </a:accent3>
      <a:accent4>
        <a:srgbClr val="FF3966"/>
      </a:accent4>
      <a:accent5>
        <a:srgbClr val="1ACA81"/>
      </a:accent5>
      <a:accent6>
        <a:srgbClr val="F4BF2C"/>
      </a:accent6>
      <a:hlink>
        <a:srgbClr val="000000"/>
      </a:hlink>
      <a:folHlink>
        <a:srgbClr val="000000"/>
      </a:folHlink>
    </a:clrScheme>
    <a:fontScheme name="自定义 2">
      <a:majorFont>
        <a:latin typeface="OPPOSans H"/>
        <a:ea typeface="OPPOSans H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模板标准文件" id="{C9E3B249-D3C8-4D9A-A1C9-043F6227200C}" vid="{8DA0DB79-7CFB-44A7-B7B5-B7AC45C353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PPT模板标准文件</Template>
  <TotalTime>326</TotalTime>
  <Words>1570</Words>
  <Application>Microsoft Office PowerPoint</Application>
  <PresentationFormat>宽屏</PresentationFormat>
  <Paragraphs>166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OPPOSans B</vt:lpstr>
      <vt:lpstr>OPPOSans H</vt:lpstr>
      <vt:lpstr>OPPOSans L</vt:lpstr>
      <vt:lpstr>OPPOSans R</vt:lpstr>
      <vt:lpstr>微软雅黑</vt:lpstr>
      <vt:lpstr>字由文艺黑</vt:lpstr>
      <vt:lpstr>Arial</vt:lpstr>
      <vt:lpstr>Roboto</vt:lpstr>
      <vt:lpstr>PPT模板标准文件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 华伟</dc:creator>
  <cp:lastModifiedBy>吴 华伟</cp:lastModifiedBy>
  <cp:revision>40</cp:revision>
  <dcterms:created xsi:type="dcterms:W3CDTF">2022-10-13T08:55:46Z</dcterms:created>
  <dcterms:modified xsi:type="dcterms:W3CDTF">2022-11-29T02:25:07Z</dcterms:modified>
</cp:coreProperties>
</file>